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60" r:id="rId4"/>
    <p:sldId id="261" r:id="rId5"/>
    <p:sldId id="262" r:id="rId6"/>
    <p:sldId id="263" r:id="rId7"/>
    <p:sldId id="264" r:id="rId8"/>
    <p:sldId id="265" r:id="rId9"/>
    <p:sldId id="267" r:id="rId10"/>
    <p:sldId id="270" r:id="rId11"/>
    <p:sldId id="266" r:id="rId12"/>
    <p:sldId id="273" r:id="rId13"/>
    <p:sldId id="272" r:id="rId14"/>
  </p:sldIdLst>
  <p:sldSz cx="18288000" cy="10287000"/>
  <p:notesSz cx="6858000" cy="9144000"/>
  <p:embeddedFontLst>
    <p:embeddedFont>
      <p:font typeface="Catchy Mager" panose="020B0604020202020204" charset="0"/>
      <p:regular r:id="rId15"/>
    </p:embeddedFont>
    <p:embeddedFont>
      <p:font typeface="Montserrat" panose="00000500000000000000" pitchFamily="2"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7" d="100"/>
          <a:sy n="47" d="100"/>
        </p:scale>
        <p:origin x="500" y="2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4/19/2026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10.jp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51576" t="-3683" r="-850" b="-48743"/>
            </a:stretch>
          </a:blipFill>
        </p:spPr>
        <p:txBody>
          <a:bodyPr/>
          <a:lstStyle/>
          <a:p>
            <a:endParaRPr lang="en-NZ" dirty="0"/>
          </a:p>
        </p:txBody>
      </p:sp>
      <p:grpSp>
        <p:nvGrpSpPr>
          <p:cNvPr id="3" name="Group 3"/>
          <p:cNvGrpSpPr/>
          <p:nvPr/>
        </p:nvGrpSpPr>
        <p:grpSpPr>
          <a:xfrm>
            <a:off x="825571" y="648590"/>
            <a:ext cx="16636859" cy="8989819"/>
            <a:chOff x="0" y="0"/>
            <a:chExt cx="4381724" cy="2367689"/>
          </a:xfrm>
        </p:grpSpPr>
        <p:sp>
          <p:nvSpPr>
            <p:cNvPr id="4" name="Freeform 4"/>
            <p:cNvSpPr/>
            <p:nvPr/>
          </p:nvSpPr>
          <p:spPr>
            <a:xfrm>
              <a:off x="0" y="0"/>
              <a:ext cx="4381724" cy="2367689"/>
            </a:xfrm>
            <a:custGeom>
              <a:avLst/>
              <a:gdLst/>
              <a:ahLst/>
              <a:cxnLst/>
              <a:rect l="l" t="t" r="r" b="b"/>
              <a:pathLst>
                <a:path w="4381724" h="2367689">
                  <a:moveTo>
                    <a:pt x="0" y="0"/>
                  </a:moveTo>
                  <a:lnTo>
                    <a:pt x="4381724" y="0"/>
                  </a:lnTo>
                  <a:lnTo>
                    <a:pt x="4381724" y="2367689"/>
                  </a:lnTo>
                  <a:lnTo>
                    <a:pt x="0" y="2367689"/>
                  </a:lnTo>
                  <a:close/>
                </a:path>
              </a:pathLst>
            </a:custGeom>
            <a:ln w="38100" cap="sq">
              <a:solidFill>
                <a:srgbClr val="F3F0F1"/>
              </a:solidFill>
              <a:prstDash val="solid"/>
              <a:miter/>
            </a:ln>
          </p:spPr>
          <p:txBody>
            <a:bodyPr/>
            <a:lstStyle/>
            <a:p>
              <a:endParaRPr lang="en-NZ" dirty="0"/>
            </a:p>
          </p:txBody>
        </p:sp>
        <p:sp>
          <p:nvSpPr>
            <p:cNvPr id="5" name="TextBox 5"/>
            <p:cNvSpPr txBox="1"/>
            <p:nvPr/>
          </p:nvSpPr>
          <p:spPr>
            <a:xfrm>
              <a:off x="0" y="38100"/>
              <a:ext cx="4381724" cy="2329589"/>
            </a:xfrm>
            <a:prstGeom prst="rect">
              <a:avLst/>
            </a:prstGeom>
          </p:spPr>
          <p:txBody>
            <a:bodyPr lIns="50800" tIns="50800" rIns="50800" bIns="50800" rtlCol="0" anchor="ctr"/>
            <a:lstStyle/>
            <a:p>
              <a:pPr algn="ctr">
                <a:lnSpc>
                  <a:spcPts val="2356"/>
                </a:lnSpc>
              </a:pPr>
              <a:endParaRPr dirty="0"/>
            </a:p>
          </p:txBody>
        </p:sp>
      </p:grpSp>
      <p:sp>
        <p:nvSpPr>
          <p:cNvPr id="6" name="TextBox 6"/>
          <p:cNvSpPr txBox="1"/>
          <p:nvPr/>
        </p:nvSpPr>
        <p:spPr>
          <a:xfrm>
            <a:off x="1028699" y="3162300"/>
            <a:ext cx="16230600" cy="3616375"/>
          </a:xfrm>
          <a:prstGeom prst="rect">
            <a:avLst/>
          </a:prstGeom>
        </p:spPr>
        <p:txBody>
          <a:bodyPr lIns="0" tIns="0" rIns="0" bIns="0" rtlCol="0" anchor="t">
            <a:spAutoFit/>
          </a:bodyPr>
          <a:lstStyle/>
          <a:p>
            <a:pPr algn="ctr">
              <a:lnSpc>
                <a:spcPts val="14100"/>
              </a:lnSpc>
            </a:pPr>
            <a:r>
              <a:rPr lang="en-US" sz="9600" dirty="0">
                <a:latin typeface="Catchy Mager" panose="020B0604020202020204" charset="0"/>
              </a:rPr>
              <a:t>Mainfreight Shipment Tracking and Coordination System</a:t>
            </a:r>
            <a:endParaRPr lang="en-US" sz="14100" spc="3792" dirty="0">
              <a:solidFill>
                <a:srgbClr val="260317"/>
              </a:solidFill>
              <a:latin typeface="Catchy Mager" panose="020B0604020202020204" charset="0"/>
              <a:ea typeface="Catchy Mager"/>
              <a:cs typeface="Catchy Mager"/>
              <a:sym typeface="Catchy Mager"/>
            </a:endParaRPr>
          </a:p>
        </p:txBody>
      </p:sp>
      <p:sp>
        <p:nvSpPr>
          <p:cNvPr id="7" name="TextBox 7"/>
          <p:cNvSpPr txBox="1"/>
          <p:nvPr/>
        </p:nvSpPr>
        <p:spPr>
          <a:xfrm>
            <a:off x="5562600" y="6923336"/>
            <a:ext cx="5861279" cy="608180"/>
          </a:xfrm>
          <a:prstGeom prst="rect">
            <a:avLst/>
          </a:prstGeom>
        </p:spPr>
        <p:txBody>
          <a:bodyPr lIns="0" tIns="0" rIns="0" bIns="0" rtlCol="0" anchor="t">
            <a:spAutoFit/>
          </a:bodyPr>
          <a:lstStyle/>
          <a:p>
            <a:pPr algn="ctr">
              <a:lnSpc>
                <a:spcPts val="1542"/>
              </a:lnSpc>
            </a:pPr>
            <a:r>
              <a:rPr lang="en-US" sz="2500" spc="33" dirty="0">
                <a:solidFill>
                  <a:srgbClr val="260317"/>
                </a:solidFill>
                <a:latin typeface="Montserrat"/>
                <a:ea typeface="Montserrat"/>
                <a:cs typeface="Montserrat"/>
                <a:sym typeface="Montserrat"/>
              </a:rPr>
              <a:t>By Sravani Kunapuli</a:t>
            </a:r>
          </a:p>
          <a:p>
            <a:pPr algn="ctr">
              <a:lnSpc>
                <a:spcPts val="1542"/>
              </a:lnSpc>
            </a:pPr>
            <a:endParaRPr lang="en-US" sz="2500" spc="33" dirty="0">
              <a:solidFill>
                <a:srgbClr val="260317"/>
              </a:solidFill>
              <a:latin typeface="Montserrat"/>
              <a:ea typeface="Montserrat"/>
              <a:cs typeface="Montserrat"/>
              <a:sym typeface="Montserrat"/>
            </a:endParaRPr>
          </a:p>
          <a:p>
            <a:pPr algn="ctr">
              <a:lnSpc>
                <a:spcPts val="1542"/>
              </a:lnSpc>
            </a:pPr>
            <a:r>
              <a:rPr lang="en-US" sz="2500" spc="33" dirty="0">
                <a:solidFill>
                  <a:srgbClr val="260317"/>
                </a:solidFill>
                <a:latin typeface="Montserrat"/>
                <a:ea typeface="Montserrat"/>
                <a:cs typeface="Montserrat"/>
                <a:sym typeface="Montserrat"/>
              </a:rPr>
              <a:t>Student ID: 23198431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0F1"/>
        </a:solidFill>
        <a:effectLst/>
      </p:bgPr>
    </p:bg>
    <p:spTree>
      <p:nvGrpSpPr>
        <p:cNvPr id="1" name=""/>
        <p:cNvGrpSpPr/>
        <p:nvPr/>
      </p:nvGrpSpPr>
      <p:grpSpPr>
        <a:xfrm>
          <a:off x="0" y="0"/>
          <a:ext cx="0" cy="0"/>
          <a:chOff x="0" y="0"/>
          <a:chExt cx="0" cy="0"/>
        </a:xfrm>
      </p:grpSpPr>
      <p:grpSp>
        <p:nvGrpSpPr>
          <p:cNvPr id="2" name="Group 2"/>
          <p:cNvGrpSpPr/>
          <p:nvPr/>
        </p:nvGrpSpPr>
        <p:grpSpPr>
          <a:xfrm>
            <a:off x="825571" y="648590"/>
            <a:ext cx="16636859" cy="8989819"/>
            <a:chOff x="0" y="0"/>
            <a:chExt cx="4381724" cy="2367689"/>
          </a:xfrm>
        </p:grpSpPr>
        <p:sp>
          <p:nvSpPr>
            <p:cNvPr id="3" name="Freeform 3"/>
            <p:cNvSpPr/>
            <p:nvPr/>
          </p:nvSpPr>
          <p:spPr>
            <a:xfrm>
              <a:off x="0" y="0"/>
              <a:ext cx="4381724" cy="2367689"/>
            </a:xfrm>
            <a:custGeom>
              <a:avLst/>
              <a:gdLst/>
              <a:ahLst/>
              <a:cxnLst/>
              <a:rect l="l" t="t" r="r" b="b"/>
              <a:pathLst>
                <a:path w="4381724" h="2367689">
                  <a:moveTo>
                    <a:pt x="0" y="0"/>
                  </a:moveTo>
                  <a:lnTo>
                    <a:pt x="4381724" y="0"/>
                  </a:lnTo>
                  <a:lnTo>
                    <a:pt x="4381724" y="2367689"/>
                  </a:lnTo>
                  <a:lnTo>
                    <a:pt x="0" y="2367689"/>
                  </a:lnTo>
                  <a:close/>
                </a:path>
              </a:pathLst>
            </a:custGeom>
            <a:ln w="9525" cap="sq">
              <a:solidFill>
                <a:srgbClr val="260317"/>
              </a:solidFill>
              <a:prstDash val="solid"/>
              <a:miter/>
            </a:ln>
          </p:spPr>
          <p:txBody>
            <a:bodyPr/>
            <a:lstStyle/>
            <a:p>
              <a:endParaRPr lang="en-NZ" dirty="0"/>
            </a:p>
          </p:txBody>
        </p:sp>
        <p:sp>
          <p:nvSpPr>
            <p:cNvPr id="4" name="TextBox 4"/>
            <p:cNvSpPr txBox="1"/>
            <p:nvPr/>
          </p:nvSpPr>
          <p:spPr>
            <a:xfrm>
              <a:off x="0" y="38100"/>
              <a:ext cx="4381724" cy="2329589"/>
            </a:xfrm>
            <a:prstGeom prst="rect">
              <a:avLst/>
            </a:prstGeom>
          </p:spPr>
          <p:txBody>
            <a:bodyPr lIns="50800" tIns="50800" rIns="50800" bIns="50800" rtlCol="0" anchor="ctr"/>
            <a:lstStyle/>
            <a:p>
              <a:pPr algn="ctr">
                <a:lnSpc>
                  <a:spcPts val="2356"/>
                </a:lnSpc>
              </a:pPr>
              <a:endParaRPr dirty="0"/>
            </a:p>
          </p:txBody>
        </p:sp>
      </p:grpSp>
      <p:sp>
        <p:nvSpPr>
          <p:cNvPr id="7" name="TextBox 7"/>
          <p:cNvSpPr txBox="1"/>
          <p:nvPr/>
        </p:nvSpPr>
        <p:spPr>
          <a:xfrm>
            <a:off x="8631469" y="3390900"/>
            <a:ext cx="8107033" cy="6126677"/>
          </a:xfrm>
          <a:prstGeom prst="rect">
            <a:avLst/>
          </a:prstGeom>
        </p:spPr>
        <p:txBody>
          <a:bodyPr lIns="0" tIns="0" rIns="0" bIns="0" rtlCol="0" anchor="t">
            <a:spAutoFit/>
          </a:bodyPr>
          <a:lstStyle/>
          <a:p>
            <a:pPr algn="l">
              <a:lnSpc>
                <a:spcPts val="2974"/>
              </a:lnSpc>
            </a:pPr>
            <a:r>
              <a:rPr lang="en-US" sz="2124" dirty="0">
                <a:solidFill>
                  <a:srgbClr val="260317"/>
                </a:solidFill>
                <a:latin typeface="Montserrat"/>
                <a:ea typeface="Montserrat"/>
                <a:cs typeface="Montserrat"/>
                <a:sym typeface="Montserrat"/>
              </a:rPr>
              <a:t>What is Mainfreight?</a:t>
            </a:r>
          </a:p>
          <a:p>
            <a:pPr algn="l">
              <a:lnSpc>
                <a:spcPts val="2974"/>
              </a:lnSpc>
            </a:pPr>
            <a:endParaRPr lang="en-US" sz="2124" dirty="0">
              <a:solidFill>
                <a:srgbClr val="260317"/>
              </a:solidFill>
              <a:latin typeface="Montserrat"/>
              <a:ea typeface="Montserrat"/>
              <a:cs typeface="Montserrat"/>
              <a:sym typeface="Montserrat"/>
            </a:endParaRPr>
          </a:p>
          <a:p>
            <a:pPr marL="342900" indent="-342900" algn="l">
              <a:lnSpc>
                <a:spcPts val="2974"/>
              </a:lnSpc>
              <a:buFontTx/>
              <a:buChar char="-"/>
            </a:pPr>
            <a:r>
              <a:rPr lang="en-US" sz="2124" dirty="0">
                <a:solidFill>
                  <a:srgbClr val="260317"/>
                </a:solidFill>
                <a:latin typeface="Montserrat"/>
                <a:ea typeface="Montserrat"/>
                <a:cs typeface="Montserrat"/>
                <a:sym typeface="Montserrat"/>
              </a:rPr>
              <a:t>Global Logistics and supply chain company</a:t>
            </a:r>
          </a:p>
          <a:p>
            <a:pPr marL="342900" indent="-342900" algn="l">
              <a:lnSpc>
                <a:spcPts val="2974"/>
              </a:lnSpc>
              <a:buFontTx/>
              <a:buChar char="-"/>
            </a:pPr>
            <a:r>
              <a:rPr lang="en-US" sz="2124" dirty="0">
                <a:solidFill>
                  <a:srgbClr val="260317"/>
                </a:solidFill>
                <a:latin typeface="Montserrat"/>
                <a:ea typeface="Montserrat"/>
                <a:cs typeface="Montserrat"/>
                <a:sym typeface="Montserrat"/>
              </a:rPr>
              <a:t>Multiple Department involved in shipment handling</a:t>
            </a:r>
          </a:p>
          <a:p>
            <a:pPr marL="342900" indent="-342900" algn="l">
              <a:lnSpc>
                <a:spcPts val="2974"/>
              </a:lnSpc>
              <a:buFontTx/>
              <a:buChar char="-"/>
            </a:pPr>
            <a:r>
              <a:rPr lang="en-US" sz="2124" dirty="0">
                <a:solidFill>
                  <a:srgbClr val="260317"/>
                </a:solidFill>
                <a:latin typeface="Montserrat"/>
                <a:ea typeface="Montserrat"/>
                <a:cs typeface="Montserrat"/>
                <a:sym typeface="Montserrat"/>
              </a:rPr>
              <a:t>Requires coordination across roles and workflows</a:t>
            </a:r>
          </a:p>
          <a:p>
            <a:pPr marL="342900" indent="-342900" algn="l">
              <a:lnSpc>
                <a:spcPts val="2974"/>
              </a:lnSpc>
              <a:buFontTx/>
              <a:buChar char="-"/>
            </a:pPr>
            <a:r>
              <a:rPr lang="en-US" sz="2124" dirty="0">
                <a:solidFill>
                  <a:srgbClr val="260317"/>
                </a:solidFill>
                <a:latin typeface="Montserrat"/>
                <a:ea typeface="Montserrat"/>
                <a:cs typeface="Montserrat"/>
                <a:sym typeface="Montserrat"/>
              </a:rPr>
              <a:t>Suitable for system modeling</a:t>
            </a:r>
          </a:p>
          <a:p>
            <a:pPr algn="l">
              <a:lnSpc>
                <a:spcPts val="2974"/>
              </a:lnSpc>
            </a:pPr>
            <a:endParaRPr lang="en-US" sz="2124" dirty="0">
              <a:solidFill>
                <a:srgbClr val="260317"/>
              </a:solidFill>
              <a:latin typeface="Montserrat"/>
              <a:ea typeface="Montserrat"/>
              <a:cs typeface="Montserrat"/>
              <a:sym typeface="Montserrat"/>
            </a:endParaRPr>
          </a:p>
          <a:p>
            <a:pPr algn="l">
              <a:lnSpc>
                <a:spcPts val="2974"/>
              </a:lnSpc>
            </a:pPr>
            <a:endParaRPr lang="en-US" sz="2124" dirty="0">
              <a:solidFill>
                <a:srgbClr val="260317"/>
              </a:solidFill>
              <a:latin typeface="Montserrat"/>
              <a:ea typeface="Montserrat"/>
              <a:cs typeface="Montserrat"/>
              <a:sym typeface="Montserrat"/>
            </a:endParaRPr>
          </a:p>
          <a:p>
            <a:pPr algn="l">
              <a:lnSpc>
                <a:spcPts val="2974"/>
              </a:lnSpc>
            </a:pPr>
            <a:endParaRPr lang="en-US" sz="2124" dirty="0">
              <a:solidFill>
                <a:srgbClr val="260317"/>
              </a:solidFill>
              <a:latin typeface="Montserrat"/>
              <a:ea typeface="Montserrat"/>
              <a:cs typeface="Montserrat"/>
              <a:sym typeface="Montserrat"/>
            </a:endParaRPr>
          </a:p>
          <a:p>
            <a:pPr algn="l">
              <a:lnSpc>
                <a:spcPts val="2974"/>
              </a:lnSpc>
            </a:pPr>
            <a:endParaRPr lang="en-US" sz="2124" dirty="0">
              <a:solidFill>
                <a:srgbClr val="260317"/>
              </a:solidFill>
              <a:latin typeface="Montserrat"/>
              <a:ea typeface="Montserrat"/>
              <a:cs typeface="Montserrat"/>
              <a:sym typeface="Montserrat"/>
            </a:endParaRPr>
          </a:p>
          <a:p>
            <a:pPr algn="l">
              <a:lnSpc>
                <a:spcPts val="2974"/>
              </a:lnSpc>
            </a:pPr>
            <a:endParaRPr lang="en-US" sz="2124" dirty="0">
              <a:solidFill>
                <a:srgbClr val="260317"/>
              </a:solidFill>
              <a:latin typeface="Montserrat"/>
              <a:ea typeface="Montserrat"/>
              <a:cs typeface="Montserrat"/>
              <a:sym typeface="Montserrat"/>
            </a:endParaRPr>
          </a:p>
          <a:p>
            <a:pPr algn="l">
              <a:lnSpc>
                <a:spcPts val="2974"/>
              </a:lnSpc>
            </a:pPr>
            <a:endParaRPr lang="en-US" sz="2124" dirty="0">
              <a:solidFill>
                <a:srgbClr val="260317"/>
              </a:solidFill>
              <a:latin typeface="Montserrat"/>
              <a:ea typeface="Montserrat"/>
              <a:cs typeface="Montserrat"/>
              <a:sym typeface="Montserrat"/>
            </a:endParaRPr>
          </a:p>
          <a:p>
            <a:pPr algn="l">
              <a:lnSpc>
                <a:spcPts val="2974"/>
              </a:lnSpc>
            </a:pPr>
            <a:endParaRPr lang="en-US" sz="2124" dirty="0">
              <a:solidFill>
                <a:srgbClr val="260317"/>
              </a:solidFill>
              <a:latin typeface="Montserrat"/>
              <a:ea typeface="Montserrat"/>
              <a:cs typeface="Montserrat"/>
              <a:sym typeface="Montserrat"/>
            </a:endParaRPr>
          </a:p>
          <a:p>
            <a:pPr algn="l">
              <a:lnSpc>
                <a:spcPts val="2974"/>
              </a:lnSpc>
            </a:pPr>
            <a:endParaRPr lang="en-US" sz="2124" dirty="0">
              <a:solidFill>
                <a:srgbClr val="260317"/>
              </a:solidFill>
              <a:latin typeface="Montserrat"/>
              <a:ea typeface="Montserrat"/>
              <a:cs typeface="Montserrat"/>
              <a:sym typeface="Montserrat"/>
            </a:endParaRPr>
          </a:p>
          <a:p>
            <a:pPr algn="l">
              <a:lnSpc>
                <a:spcPts val="2974"/>
              </a:lnSpc>
            </a:pPr>
            <a:endParaRPr lang="en-US" sz="2124" dirty="0">
              <a:solidFill>
                <a:srgbClr val="260317"/>
              </a:solidFill>
              <a:latin typeface="Montserrat"/>
              <a:ea typeface="Montserrat"/>
              <a:cs typeface="Montserrat"/>
              <a:sym typeface="Montserrat"/>
            </a:endParaRPr>
          </a:p>
          <a:p>
            <a:pPr algn="l">
              <a:lnSpc>
                <a:spcPts val="2974"/>
              </a:lnSpc>
            </a:pPr>
            <a:endParaRPr lang="en-US" sz="2124" dirty="0">
              <a:solidFill>
                <a:srgbClr val="260317"/>
              </a:solidFill>
              <a:latin typeface="Montserrat"/>
              <a:ea typeface="Montserrat"/>
              <a:cs typeface="Montserrat"/>
              <a:sym typeface="Montserrat"/>
            </a:endParaRPr>
          </a:p>
        </p:txBody>
      </p:sp>
      <p:sp>
        <p:nvSpPr>
          <p:cNvPr id="11" name="TextBox 11"/>
          <p:cNvSpPr txBox="1"/>
          <p:nvPr/>
        </p:nvSpPr>
        <p:spPr>
          <a:xfrm>
            <a:off x="8776261" y="1252457"/>
            <a:ext cx="8252727" cy="1823513"/>
          </a:xfrm>
          <a:prstGeom prst="rect">
            <a:avLst/>
          </a:prstGeom>
        </p:spPr>
        <p:txBody>
          <a:bodyPr lIns="0" tIns="0" rIns="0" bIns="0" rtlCol="0" anchor="t">
            <a:spAutoFit/>
          </a:bodyPr>
          <a:lstStyle/>
          <a:p>
            <a:pPr algn="just">
              <a:lnSpc>
                <a:spcPts val="6863"/>
              </a:lnSpc>
            </a:pPr>
            <a:r>
              <a:rPr lang="en-US" sz="7149" spc="793" dirty="0">
                <a:solidFill>
                  <a:srgbClr val="260317"/>
                </a:solidFill>
                <a:latin typeface="Catchy Mager"/>
                <a:ea typeface="Catchy Mager"/>
                <a:cs typeface="Catchy Mager"/>
                <a:sym typeface="Catchy Mager"/>
              </a:rPr>
              <a:t>Mainfreight Overview</a:t>
            </a:r>
          </a:p>
        </p:txBody>
      </p:sp>
      <p:pic>
        <p:nvPicPr>
          <p:cNvPr id="16" name="Picture 15">
            <a:extLst>
              <a:ext uri="{FF2B5EF4-FFF2-40B4-BE49-F238E27FC236}">
                <a16:creationId xmlns:a16="http://schemas.microsoft.com/office/drawing/2014/main" id="{DD940924-BFE6-62DF-16C5-0FC54969F851}"/>
              </a:ext>
            </a:extLst>
          </p:cNvPr>
          <p:cNvPicPr>
            <a:picLocks noChangeAspect="1"/>
          </p:cNvPicPr>
          <p:nvPr/>
        </p:nvPicPr>
        <p:blipFill>
          <a:blip r:embed="rId2"/>
          <a:stretch>
            <a:fillRect/>
          </a:stretch>
        </p:blipFill>
        <p:spPr>
          <a:xfrm>
            <a:off x="1311735" y="2781300"/>
            <a:ext cx="6833570" cy="517227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51576" t="-3683" r="-850" b="-48743"/>
            </a:stretch>
          </a:blipFill>
        </p:spPr>
        <p:txBody>
          <a:bodyPr/>
          <a:lstStyle/>
          <a:p>
            <a:endParaRPr lang="en-NZ" dirty="0"/>
          </a:p>
        </p:txBody>
      </p:sp>
      <p:grpSp>
        <p:nvGrpSpPr>
          <p:cNvPr id="3" name="Group 3"/>
          <p:cNvGrpSpPr/>
          <p:nvPr/>
        </p:nvGrpSpPr>
        <p:grpSpPr>
          <a:xfrm>
            <a:off x="825571" y="648590"/>
            <a:ext cx="16636859" cy="8989819"/>
            <a:chOff x="0" y="0"/>
            <a:chExt cx="4381724" cy="2367689"/>
          </a:xfrm>
        </p:grpSpPr>
        <p:sp>
          <p:nvSpPr>
            <p:cNvPr id="4" name="Freeform 4"/>
            <p:cNvSpPr/>
            <p:nvPr/>
          </p:nvSpPr>
          <p:spPr>
            <a:xfrm>
              <a:off x="0" y="0"/>
              <a:ext cx="4381724" cy="2367689"/>
            </a:xfrm>
            <a:custGeom>
              <a:avLst/>
              <a:gdLst/>
              <a:ahLst/>
              <a:cxnLst/>
              <a:rect l="l" t="t" r="r" b="b"/>
              <a:pathLst>
                <a:path w="4381724" h="2367689">
                  <a:moveTo>
                    <a:pt x="0" y="0"/>
                  </a:moveTo>
                  <a:lnTo>
                    <a:pt x="4381724" y="0"/>
                  </a:lnTo>
                  <a:lnTo>
                    <a:pt x="4381724" y="2367689"/>
                  </a:lnTo>
                  <a:lnTo>
                    <a:pt x="0" y="2367689"/>
                  </a:lnTo>
                  <a:close/>
                </a:path>
              </a:pathLst>
            </a:custGeom>
            <a:ln w="38100" cap="sq">
              <a:solidFill>
                <a:srgbClr val="F3F0F1"/>
              </a:solidFill>
              <a:prstDash val="solid"/>
              <a:miter/>
            </a:ln>
          </p:spPr>
          <p:txBody>
            <a:bodyPr/>
            <a:lstStyle/>
            <a:p>
              <a:endParaRPr lang="en-NZ" dirty="0"/>
            </a:p>
          </p:txBody>
        </p:sp>
        <p:sp>
          <p:nvSpPr>
            <p:cNvPr id="5" name="TextBox 5"/>
            <p:cNvSpPr txBox="1"/>
            <p:nvPr/>
          </p:nvSpPr>
          <p:spPr>
            <a:xfrm>
              <a:off x="0" y="38100"/>
              <a:ext cx="4381724" cy="2329589"/>
            </a:xfrm>
            <a:prstGeom prst="rect">
              <a:avLst/>
            </a:prstGeom>
          </p:spPr>
          <p:txBody>
            <a:bodyPr lIns="50800" tIns="50800" rIns="50800" bIns="50800" rtlCol="0" anchor="ctr"/>
            <a:lstStyle/>
            <a:p>
              <a:pPr algn="ctr">
                <a:lnSpc>
                  <a:spcPts val="2356"/>
                </a:lnSpc>
              </a:pPr>
              <a:endParaRPr dirty="0"/>
            </a:p>
          </p:txBody>
        </p:sp>
      </p:grpSp>
      <p:sp>
        <p:nvSpPr>
          <p:cNvPr id="6" name="TextBox 6"/>
          <p:cNvSpPr txBox="1"/>
          <p:nvPr/>
        </p:nvSpPr>
        <p:spPr>
          <a:xfrm>
            <a:off x="4445704" y="5694458"/>
            <a:ext cx="9389245" cy="1957587"/>
          </a:xfrm>
          <a:prstGeom prst="rect">
            <a:avLst/>
          </a:prstGeom>
        </p:spPr>
        <p:txBody>
          <a:bodyPr lIns="0" tIns="0" rIns="0" bIns="0" rtlCol="0" anchor="t">
            <a:spAutoFit/>
          </a:bodyPr>
          <a:lstStyle/>
          <a:p>
            <a:pPr marL="342900" indent="-342900" algn="just">
              <a:lnSpc>
                <a:spcPts val="3061"/>
              </a:lnSpc>
              <a:spcBef>
                <a:spcPct val="0"/>
              </a:spcBef>
              <a:buFontTx/>
              <a:buChar char="-"/>
            </a:pPr>
            <a:r>
              <a:rPr lang="en-US" sz="2186" spc="129" dirty="0">
                <a:solidFill>
                  <a:srgbClr val="260317"/>
                </a:solidFill>
                <a:latin typeface="Montserrat"/>
                <a:ea typeface="Montserrat"/>
                <a:cs typeface="Montserrat"/>
                <a:sym typeface="Montserrat"/>
              </a:rPr>
              <a:t>- Shipment information is assumed to be shared through manual updates such as emails and internal communication systms</a:t>
            </a:r>
          </a:p>
          <a:p>
            <a:pPr marL="342900" indent="-342900" algn="just">
              <a:lnSpc>
                <a:spcPts val="3061"/>
              </a:lnSpc>
              <a:spcBef>
                <a:spcPct val="0"/>
              </a:spcBef>
              <a:buFontTx/>
              <a:buChar char="-"/>
            </a:pPr>
            <a:r>
              <a:rPr lang="en-US" sz="2186" spc="129" dirty="0">
                <a:solidFill>
                  <a:srgbClr val="260317"/>
                </a:solidFill>
                <a:latin typeface="Montserrat"/>
                <a:ea typeface="Montserrat"/>
                <a:cs typeface="Montserrat"/>
                <a:sym typeface="Montserrat"/>
              </a:rPr>
              <a:t>Customer service relies on basic tracking information to respond to customer</a:t>
            </a:r>
          </a:p>
        </p:txBody>
      </p:sp>
      <p:sp>
        <p:nvSpPr>
          <p:cNvPr id="7" name="TextBox 7"/>
          <p:cNvSpPr txBox="1"/>
          <p:nvPr/>
        </p:nvSpPr>
        <p:spPr>
          <a:xfrm>
            <a:off x="1936025" y="3496531"/>
            <a:ext cx="14408604" cy="1114932"/>
          </a:xfrm>
          <a:prstGeom prst="rect">
            <a:avLst/>
          </a:prstGeom>
        </p:spPr>
        <p:txBody>
          <a:bodyPr lIns="0" tIns="0" rIns="0" bIns="0" rtlCol="0" anchor="t">
            <a:spAutoFit/>
          </a:bodyPr>
          <a:lstStyle/>
          <a:p>
            <a:pPr algn="ctr">
              <a:lnSpc>
                <a:spcPts val="8115"/>
              </a:lnSpc>
            </a:pPr>
            <a:r>
              <a:rPr lang="en-US" sz="8454" spc="1724" dirty="0">
                <a:solidFill>
                  <a:srgbClr val="260317"/>
                </a:solidFill>
                <a:latin typeface="Catchy Mager"/>
                <a:ea typeface="Catchy Mager"/>
                <a:cs typeface="Catchy Mager"/>
                <a:sym typeface="Catchy Mager"/>
              </a:rPr>
              <a:t>Problem Statement</a:t>
            </a:r>
          </a:p>
        </p:txBody>
      </p:sp>
      <p:grpSp>
        <p:nvGrpSpPr>
          <p:cNvPr id="8" name="Group 8"/>
          <p:cNvGrpSpPr/>
          <p:nvPr/>
        </p:nvGrpSpPr>
        <p:grpSpPr>
          <a:xfrm>
            <a:off x="4365540" y="4761577"/>
            <a:ext cx="9556921" cy="513781"/>
            <a:chOff x="0" y="0"/>
            <a:chExt cx="2388129" cy="128386"/>
          </a:xfrm>
        </p:grpSpPr>
        <p:sp>
          <p:nvSpPr>
            <p:cNvPr id="9" name="Freeform 9"/>
            <p:cNvSpPr/>
            <p:nvPr/>
          </p:nvSpPr>
          <p:spPr>
            <a:xfrm>
              <a:off x="0" y="0"/>
              <a:ext cx="2388129" cy="128386"/>
            </a:xfrm>
            <a:custGeom>
              <a:avLst/>
              <a:gdLst/>
              <a:ahLst/>
              <a:cxnLst/>
              <a:rect l="l" t="t" r="r" b="b"/>
              <a:pathLst>
                <a:path w="2388129" h="128386">
                  <a:moveTo>
                    <a:pt x="0" y="0"/>
                  </a:moveTo>
                  <a:lnTo>
                    <a:pt x="2388129" y="0"/>
                  </a:lnTo>
                  <a:lnTo>
                    <a:pt x="2388129" y="128386"/>
                  </a:lnTo>
                  <a:lnTo>
                    <a:pt x="0" y="128386"/>
                  </a:lnTo>
                  <a:close/>
                </a:path>
              </a:pathLst>
            </a:custGeom>
            <a:solidFill>
              <a:srgbClr val="FAEEF5"/>
            </a:solidFill>
          </p:spPr>
          <p:txBody>
            <a:bodyPr/>
            <a:lstStyle/>
            <a:p>
              <a:endParaRPr lang="en-NZ" dirty="0"/>
            </a:p>
          </p:txBody>
        </p:sp>
        <p:sp>
          <p:nvSpPr>
            <p:cNvPr id="10" name="TextBox 10"/>
            <p:cNvSpPr txBox="1"/>
            <p:nvPr/>
          </p:nvSpPr>
          <p:spPr>
            <a:xfrm>
              <a:off x="0" y="-38100"/>
              <a:ext cx="2388129" cy="166486"/>
            </a:xfrm>
            <a:prstGeom prst="rect">
              <a:avLst/>
            </a:prstGeom>
          </p:spPr>
          <p:txBody>
            <a:bodyPr lIns="50800" tIns="50800" rIns="50800" bIns="50800" rtlCol="0" anchor="ctr"/>
            <a:lstStyle/>
            <a:p>
              <a:pPr algn="l">
                <a:lnSpc>
                  <a:spcPts val="2659"/>
                </a:lnSpc>
              </a:pPr>
              <a:endParaRPr dirty="0"/>
            </a:p>
          </p:txBody>
        </p:sp>
      </p:grpSp>
      <p:sp>
        <p:nvSpPr>
          <p:cNvPr id="11" name="TextBox 11"/>
          <p:cNvSpPr txBox="1"/>
          <p:nvPr/>
        </p:nvSpPr>
        <p:spPr>
          <a:xfrm>
            <a:off x="4653376" y="4912923"/>
            <a:ext cx="8973901" cy="234103"/>
          </a:xfrm>
          <a:prstGeom prst="rect">
            <a:avLst/>
          </a:prstGeom>
        </p:spPr>
        <p:txBody>
          <a:bodyPr lIns="0" tIns="0" rIns="0" bIns="0" rtlCol="0" anchor="t">
            <a:spAutoFit/>
          </a:bodyPr>
          <a:lstStyle/>
          <a:p>
            <a:pPr algn="ctr">
              <a:lnSpc>
                <a:spcPts val="1848"/>
              </a:lnSpc>
            </a:pPr>
            <a:r>
              <a:rPr lang="en-US" sz="1925" spc="213" dirty="0">
                <a:solidFill>
                  <a:srgbClr val="260317"/>
                </a:solidFill>
                <a:latin typeface="Montserrat"/>
                <a:ea typeface="Montserrat"/>
                <a:cs typeface="Montserrat"/>
                <a:sym typeface="Montserrat"/>
              </a:rPr>
              <a:t>Main Problems Identified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0F1"/>
        </a:solidFill>
        <a:effectLst/>
      </p:bgPr>
    </p:bg>
    <p:spTree>
      <p:nvGrpSpPr>
        <p:cNvPr id="1" name=""/>
        <p:cNvGrpSpPr/>
        <p:nvPr/>
      </p:nvGrpSpPr>
      <p:grpSpPr>
        <a:xfrm>
          <a:off x="0" y="0"/>
          <a:ext cx="0" cy="0"/>
          <a:chOff x="0" y="0"/>
          <a:chExt cx="0" cy="0"/>
        </a:xfrm>
      </p:grpSpPr>
      <p:grpSp>
        <p:nvGrpSpPr>
          <p:cNvPr id="2" name="Group 2"/>
          <p:cNvGrpSpPr/>
          <p:nvPr/>
        </p:nvGrpSpPr>
        <p:grpSpPr>
          <a:xfrm>
            <a:off x="825571" y="648590"/>
            <a:ext cx="16636859" cy="8989819"/>
            <a:chOff x="0" y="0"/>
            <a:chExt cx="4381724" cy="2367689"/>
          </a:xfrm>
        </p:grpSpPr>
        <p:sp>
          <p:nvSpPr>
            <p:cNvPr id="3" name="Freeform 3"/>
            <p:cNvSpPr/>
            <p:nvPr/>
          </p:nvSpPr>
          <p:spPr>
            <a:xfrm>
              <a:off x="0" y="0"/>
              <a:ext cx="4381724" cy="2367689"/>
            </a:xfrm>
            <a:custGeom>
              <a:avLst/>
              <a:gdLst/>
              <a:ahLst/>
              <a:cxnLst/>
              <a:rect l="l" t="t" r="r" b="b"/>
              <a:pathLst>
                <a:path w="4381724" h="2367689">
                  <a:moveTo>
                    <a:pt x="0" y="0"/>
                  </a:moveTo>
                  <a:lnTo>
                    <a:pt x="4381724" y="0"/>
                  </a:lnTo>
                  <a:lnTo>
                    <a:pt x="4381724" y="2367689"/>
                  </a:lnTo>
                  <a:lnTo>
                    <a:pt x="0" y="2367689"/>
                  </a:lnTo>
                  <a:close/>
                </a:path>
              </a:pathLst>
            </a:custGeom>
            <a:ln w="9525" cap="sq">
              <a:solidFill>
                <a:srgbClr val="260317"/>
              </a:solidFill>
              <a:prstDash val="solid"/>
              <a:miter/>
            </a:ln>
          </p:spPr>
          <p:txBody>
            <a:bodyPr/>
            <a:lstStyle/>
            <a:p>
              <a:endParaRPr lang="en-NZ" dirty="0"/>
            </a:p>
          </p:txBody>
        </p:sp>
        <p:sp>
          <p:nvSpPr>
            <p:cNvPr id="4" name="TextBox 4"/>
            <p:cNvSpPr txBox="1"/>
            <p:nvPr/>
          </p:nvSpPr>
          <p:spPr>
            <a:xfrm>
              <a:off x="0" y="38100"/>
              <a:ext cx="4381724" cy="2329589"/>
            </a:xfrm>
            <a:prstGeom prst="rect">
              <a:avLst/>
            </a:prstGeom>
          </p:spPr>
          <p:txBody>
            <a:bodyPr lIns="50800" tIns="50800" rIns="50800" bIns="50800" rtlCol="0" anchor="ctr"/>
            <a:lstStyle/>
            <a:p>
              <a:pPr algn="ctr">
                <a:lnSpc>
                  <a:spcPts val="2356"/>
                </a:lnSpc>
              </a:pPr>
              <a:endParaRPr dirty="0"/>
            </a:p>
          </p:txBody>
        </p:sp>
      </p:grpSp>
      <p:sp>
        <p:nvSpPr>
          <p:cNvPr id="6" name="TextBox 6"/>
          <p:cNvSpPr txBox="1"/>
          <p:nvPr/>
        </p:nvSpPr>
        <p:spPr>
          <a:xfrm>
            <a:off x="10439400" y="6170632"/>
            <a:ext cx="5606126" cy="2022670"/>
          </a:xfrm>
          <a:prstGeom prst="rect">
            <a:avLst/>
          </a:prstGeom>
        </p:spPr>
        <p:txBody>
          <a:bodyPr lIns="0" tIns="0" rIns="0" bIns="0" rtlCol="0" anchor="t">
            <a:spAutoFit/>
          </a:bodyPr>
          <a:lstStyle/>
          <a:p>
            <a:pPr marL="342900" indent="-342900" algn="l">
              <a:lnSpc>
                <a:spcPts val="3244"/>
              </a:lnSpc>
              <a:spcBef>
                <a:spcPct val="0"/>
              </a:spcBef>
              <a:buFontTx/>
              <a:buChar char="-"/>
            </a:pPr>
            <a:r>
              <a:rPr lang="en-US" sz="2317" dirty="0">
                <a:solidFill>
                  <a:srgbClr val="260317"/>
                </a:solidFill>
                <a:latin typeface="Montserrat"/>
                <a:ea typeface="Montserrat"/>
                <a:cs typeface="Montserrat"/>
                <a:sym typeface="Montserrat"/>
              </a:rPr>
              <a:t>Payroll</a:t>
            </a:r>
          </a:p>
          <a:p>
            <a:pPr marL="342900" indent="-342900" algn="l">
              <a:lnSpc>
                <a:spcPts val="3244"/>
              </a:lnSpc>
              <a:spcBef>
                <a:spcPct val="0"/>
              </a:spcBef>
              <a:buFontTx/>
              <a:buChar char="-"/>
            </a:pPr>
            <a:r>
              <a:rPr lang="en-US" sz="2317" dirty="0">
                <a:solidFill>
                  <a:srgbClr val="260317"/>
                </a:solidFill>
                <a:latin typeface="Montserrat"/>
                <a:ea typeface="Montserrat"/>
                <a:cs typeface="Montserrat"/>
                <a:sym typeface="Montserrat"/>
              </a:rPr>
              <a:t>HR Systems</a:t>
            </a:r>
          </a:p>
          <a:p>
            <a:pPr marL="342900" indent="-342900" algn="l">
              <a:lnSpc>
                <a:spcPts val="3244"/>
              </a:lnSpc>
              <a:spcBef>
                <a:spcPct val="0"/>
              </a:spcBef>
              <a:buFontTx/>
              <a:buChar char="-"/>
            </a:pPr>
            <a:r>
              <a:rPr lang="en-US" sz="2317" dirty="0">
                <a:solidFill>
                  <a:srgbClr val="260317"/>
                </a:solidFill>
                <a:latin typeface="Montserrat"/>
                <a:ea typeface="Montserrat"/>
                <a:cs typeface="Montserrat"/>
                <a:sym typeface="Montserrat"/>
              </a:rPr>
              <a:t>External financial systems</a:t>
            </a:r>
          </a:p>
          <a:p>
            <a:pPr marL="342900" indent="-342900" algn="l">
              <a:lnSpc>
                <a:spcPts val="3244"/>
              </a:lnSpc>
              <a:spcBef>
                <a:spcPct val="0"/>
              </a:spcBef>
              <a:buFontTx/>
              <a:buChar char="-"/>
            </a:pPr>
            <a:r>
              <a:rPr lang="en-US" sz="2317" dirty="0">
                <a:solidFill>
                  <a:srgbClr val="260317"/>
                </a:solidFill>
                <a:latin typeface="Montserrat"/>
                <a:ea typeface="Montserrat"/>
                <a:cs typeface="Montserrat"/>
                <a:sym typeface="Montserrat"/>
              </a:rPr>
              <a:t>Third party supplier systems</a:t>
            </a:r>
          </a:p>
          <a:p>
            <a:pPr marL="342900" indent="-342900" algn="l">
              <a:lnSpc>
                <a:spcPts val="3244"/>
              </a:lnSpc>
              <a:spcBef>
                <a:spcPct val="0"/>
              </a:spcBef>
              <a:buFontTx/>
              <a:buChar char="-"/>
            </a:pPr>
            <a:r>
              <a:rPr lang="en-US" sz="2317" dirty="0">
                <a:solidFill>
                  <a:srgbClr val="260317"/>
                </a:solidFill>
                <a:latin typeface="Montserrat"/>
                <a:ea typeface="Montserrat"/>
                <a:cs typeface="Montserrat"/>
                <a:sym typeface="Montserrat"/>
              </a:rPr>
              <a:t>- enterprise deployment</a:t>
            </a:r>
          </a:p>
        </p:txBody>
      </p:sp>
      <p:grpSp>
        <p:nvGrpSpPr>
          <p:cNvPr id="7" name="Group 7"/>
          <p:cNvGrpSpPr/>
          <p:nvPr/>
        </p:nvGrpSpPr>
        <p:grpSpPr>
          <a:xfrm>
            <a:off x="2614865" y="3783167"/>
            <a:ext cx="13430661" cy="565169"/>
            <a:chOff x="0" y="0"/>
            <a:chExt cx="3537293" cy="148851"/>
          </a:xfrm>
        </p:grpSpPr>
        <p:sp>
          <p:nvSpPr>
            <p:cNvPr id="8" name="Freeform 8"/>
            <p:cNvSpPr/>
            <p:nvPr/>
          </p:nvSpPr>
          <p:spPr>
            <a:xfrm>
              <a:off x="0" y="0"/>
              <a:ext cx="3537293" cy="148851"/>
            </a:xfrm>
            <a:custGeom>
              <a:avLst/>
              <a:gdLst/>
              <a:ahLst/>
              <a:cxnLst/>
              <a:rect l="l" t="t" r="r" b="b"/>
              <a:pathLst>
                <a:path w="3537293" h="148851">
                  <a:moveTo>
                    <a:pt x="0" y="0"/>
                  </a:moveTo>
                  <a:lnTo>
                    <a:pt x="3537293" y="0"/>
                  </a:lnTo>
                  <a:lnTo>
                    <a:pt x="3537293" y="148851"/>
                  </a:lnTo>
                  <a:lnTo>
                    <a:pt x="0" y="148851"/>
                  </a:lnTo>
                  <a:close/>
                </a:path>
              </a:pathLst>
            </a:custGeom>
            <a:solidFill>
              <a:srgbClr val="EAD3E0"/>
            </a:solidFill>
          </p:spPr>
          <p:txBody>
            <a:bodyPr/>
            <a:lstStyle/>
            <a:p>
              <a:endParaRPr lang="en-NZ" dirty="0"/>
            </a:p>
          </p:txBody>
        </p:sp>
        <p:sp>
          <p:nvSpPr>
            <p:cNvPr id="9" name="TextBox 9"/>
            <p:cNvSpPr txBox="1"/>
            <p:nvPr/>
          </p:nvSpPr>
          <p:spPr>
            <a:xfrm>
              <a:off x="0" y="-38100"/>
              <a:ext cx="3537293" cy="186951"/>
            </a:xfrm>
            <a:prstGeom prst="rect">
              <a:avLst/>
            </a:prstGeom>
          </p:spPr>
          <p:txBody>
            <a:bodyPr lIns="50800" tIns="50800" rIns="50800" bIns="50800" rtlCol="0" anchor="ctr"/>
            <a:lstStyle/>
            <a:p>
              <a:pPr algn="r">
                <a:lnSpc>
                  <a:spcPts val="2659"/>
                </a:lnSpc>
              </a:pPr>
              <a:endParaRPr dirty="0"/>
            </a:p>
          </p:txBody>
        </p:sp>
      </p:grpSp>
      <p:sp>
        <p:nvSpPr>
          <p:cNvPr id="10" name="TextBox 10"/>
          <p:cNvSpPr txBox="1"/>
          <p:nvPr/>
        </p:nvSpPr>
        <p:spPr>
          <a:xfrm>
            <a:off x="2450743" y="1714014"/>
            <a:ext cx="13386514" cy="1029128"/>
          </a:xfrm>
          <a:prstGeom prst="rect">
            <a:avLst/>
          </a:prstGeom>
        </p:spPr>
        <p:txBody>
          <a:bodyPr lIns="0" tIns="0" rIns="0" bIns="0" rtlCol="0" anchor="t">
            <a:spAutoFit/>
          </a:bodyPr>
          <a:lstStyle/>
          <a:p>
            <a:pPr algn="ctr">
              <a:lnSpc>
                <a:spcPts val="7540"/>
              </a:lnSpc>
            </a:pPr>
            <a:r>
              <a:rPr lang="en-NZ" sz="8000" dirty="0">
                <a:latin typeface="Catchy Mager" panose="020B0604020202020204" charset="0"/>
              </a:rPr>
              <a:t>System Scope</a:t>
            </a:r>
            <a:endParaRPr lang="en-US" sz="7854" spc="1602" dirty="0">
              <a:solidFill>
                <a:srgbClr val="260317"/>
              </a:solidFill>
              <a:latin typeface="Catchy Mager" panose="020B0604020202020204" charset="0"/>
              <a:ea typeface="Catchy Mager"/>
              <a:cs typeface="Catchy Mager"/>
              <a:sym typeface="Catchy Mager"/>
            </a:endParaRPr>
          </a:p>
        </p:txBody>
      </p:sp>
      <p:sp>
        <p:nvSpPr>
          <p:cNvPr id="11" name="TextBox 11"/>
          <p:cNvSpPr txBox="1"/>
          <p:nvPr/>
        </p:nvSpPr>
        <p:spPr>
          <a:xfrm>
            <a:off x="2351455" y="4024531"/>
            <a:ext cx="6169961" cy="349904"/>
          </a:xfrm>
          <a:prstGeom prst="rect">
            <a:avLst/>
          </a:prstGeom>
        </p:spPr>
        <p:txBody>
          <a:bodyPr lIns="0" tIns="0" rIns="0" bIns="0" rtlCol="0" anchor="t">
            <a:spAutoFit/>
          </a:bodyPr>
          <a:lstStyle/>
          <a:p>
            <a:pPr marL="589360" lvl="1" indent="-294680" algn="l">
              <a:lnSpc>
                <a:spcPts val="2620"/>
              </a:lnSpc>
              <a:buFont typeface="Arial"/>
              <a:buChar char="•"/>
            </a:pPr>
            <a:r>
              <a:rPr lang="en-US" sz="2729" spc="196" dirty="0">
                <a:solidFill>
                  <a:srgbClr val="260317"/>
                </a:solidFill>
                <a:latin typeface="Montserrat"/>
                <a:ea typeface="Montserrat"/>
                <a:cs typeface="Montserrat"/>
                <a:sym typeface="Montserrat"/>
              </a:rPr>
              <a:t>Included</a:t>
            </a:r>
          </a:p>
        </p:txBody>
      </p:sp>
      <p:sp>
        <p:nvSpPr>
          <p:cNvPr id="12" name="TextBox 12"/>
          <p:cNvSpPr txBox="1"/>
          <p:nvPr/>
        </p:nvSpPr>
        <p:spPr>
          <a:xfrm>
            <a:off x="9683813" y="3959814"/>
            <a:ext cx="5674341" cy="349904"/>
          </a:xfrm>
          <a:prstGeom prst="rect">
            <a:avLst/>
          </a:prstGeom>
        </p:spPr>
        <p:txBody>
          <a:bodyPr lIns="0" tIns="0" rIns="0" bIns="0" rtlCol="0" anchor="t">
            <a:spAutoFit/>
          </a:bodyPr>
          <a:lstStyle/>
          <a:p>
            <a:pPr marL="589360" lvl="1" indent="-294680" algn="l">
              <a:lnSpc>
                <a:spcPts val="2620"/>
              </a:lnSpc>
              <a:buFont typeface="Arial"/>
              <a:buChar char="•"/>
            </a:pPr>
            <a:r>
              <a:rPr lang="en-US" sz="2729" spc="196" dirty="0">
                <a:solidFill>
                  <a:srgbClr val="260317"/>
                </a:solidFill>
                <a:latin typeface="Montserrat"/>
                <a:ea typeface="Montserrat"/>
                <a:cs typeface="Montserrat"/>
                <a:sym typeface="Montserrat"/>
              </a:rPr>
              <a:t>Outside the System</a:t>
            </a:r>
          </a:p>
        </p:txBody>
      </p:sp>
      <p:grpSp>
        <p:nvGrpSpPr>
          <p:cNvPr id="18" name="Group 7">
            <a:extLst>
              <a:ext uri="{FF2B5EF4-FFF2-40B4-BE49-F238E27FC236}">
                <a16:creationId xmlns:a16="http://schemas.microsoft.com/office/drawing/2014/main" id="{0C94C023-5A25-D560-2860-12ACA0B1030D}"/>
              </a:ext>
            </a:extLst>
          </p:cNvPr>
          <p:cNvGrpSpPr/>
          <p:nvPr/>
        </p:nvGrpSpPr>
        <p:grpSpPr>
          <a:xfrm>
            <a:off x="6772069" y="2688334"/>
            <a:ext cx="4743861" cy="565169"/>
            <a:chOff x="0" y="0"/>
            <a:chExt cx="3537293" cy="148851"/>
          </a:xfrm>
        </p:grpSpPr>
        <p:sp>
          <p:nvSpPr>
            <p:cNvPr id="19" name="Freeform 8">
              <a:extLst>
                <a:ext uri="{FF2B5EF4-FFF2-40B4-BE49-F238E27FC236}">
                  <a16:creationId xmlns:a16="http://schemas.microsoft.com/office/drawing/2014/main" id="{6508EC3E-484F-CEA0-FA76-C8D13CA960B0}"/>
                </a:ext>
              </a:extLst>
            </p:cNvPr>
            <p:cNvSpPr/>
            <p:nvPr/>
          </p:nvSpPr>
          <p:spPr>
            <a:xfrm>
              <a:off x="0" y="0"/>
              <a:ext cx="3537293" cy="148851"/>
            </a:xfrm>
            <a:custGeom>
              <a:avLst/>
              <a:gdLst/>
              <a:ahLst/>
              <a:cxnLst/>
              <a:rect l="l" t="t" r="r" b="b"/>
              <a:pathLst>
                <a:path w="3537293" h="148851">
                  <a:moveTo>
                    <a:pt x="0" y="0"/>
                  </a:moveTo>
                  <a:lnTo>
                    <a:pt x="3537293" y="0"/>
                  </a:lnTo>
                  <a:lnTo>
                    <a:pt x="3537293" y="148851"/>
                  </a:lnTo>
                  <a:lnTo>
                    <a:pt x="0" y="148851"/>
                  </a:lnTo>
                  <a:close/>
                </a:path>
              </a:pathLst>
            </a:custGeom>
            <a:solidFill>
              <a:srgbClr val="EAD3E0"/>
            </a:solidFill>
          </p:spPr>
          <p:txBody>
            <a:bodyPr/>
            <a:lstStyle/>
            <a:p>
              <a:endParaRPr lang="en-NZ" dirty="0"/>
            </a:p>
          </p:txBody>
        </p:sp>
        <p:sp>
          <p:nvSpPr>
            <p:cNvPr id="20" name="TextBox 9">
              <a:extLst>
                <a:ext uri="{FF2B5EF4-FFF2-40B4-BE49-F238E27FC236}">
                  <a16:creationId xmlns:a16="http://schemas.microsoft.com/office/drawing/2014/main" id="{61ED6695-CE24-BCCD-9B94-D63E95DC0A6D}"/>
                </a:ext>
              </a:extLst>
            </p:cNvPr>
            <p:cNvSpPr txBox="1"/>
            <p:nvPr/>
          </p:nvSpPr>
          <p:spPr>
            <a:xfrm>
              <a:off x="0" y="-38100"/>
              <a:ext cx="3537293" cy="186951"/>
            </a:xfrm>
            <a:prstGeom prst="rect">
              <a:avLst/>
            </a:prstGeom>
          </p:spPr>
          <p:txBody>
            <a:bodyPr lIns="50800" tIns="50800" rIns="50800" bIns="50800" rtlCol="0" anchor="ctr"/>
            <a:lstStyle/>
            <a:p>
              <a:pPr algn="r">
                <a:lnSpc>
                  <a:spcPts val="2659"/>
                </a:lnSpc>
              </a:pPr>
              <a:endParaRPr dirty="0"/>
            </a:p>
          </p:txBody>
        </p:sp>
      </p:grpSp>
      <p:sp>
        <p:nvSpPr>
          <p:cNvPr id="21" name="TextBox 12">
            <a:extLst>
              <a:ext uri="{FF2B5EF4-FFF2-40B4-BE49-F238E27FC236}">
                <a16:creationId xmlns:a16="http://schemas.microsoft.com/office/drawing/2014/main" id="{BD58F587-72A7-8B96-6C74-18C1CF086C38}"/>
              </a:ext>
            </a:extLst>
          </p:cNvPr>
          <p:cNvSpPr txBox="1"/>
          <p:nvPr/>
        </p:nvSpPr>
        <p:spPr>
          <a:xfrm>
            <a:off x="6772069" y="2862378"/>
            <a:ext cx="5674341" cy="349904"/>
          </a:xfrm>
          <a:prstGeom prst="rect">
            <a:avLst/>
          </a:prstGeom>
        </p:spPr>
        <p:txBody>
          <a:bodyPr lIns="0" tIns="0" rIns="0" bIns="0" rtlCol="0" anchor="t">
            <a:spAutoFit/>
          </a:bodyPr>
          <a:lstStyle/>
          <a:p>
            <a:pPr marL="589360" lvl="1" indent="-294680" algn="l">
              <a:lnSpc>
                <a:spcPts val="2620"/>
              </a:lnSpc>
              <a:buFont typeface="Arial"/>
              <a:buChar char="•"/>
            </a:pPr>
            <a:r>
              <a:rPr lang="en-US" sz="2729" spc="196" dirty="0">
                <a:solidFill>
                  <a:srgbClr val="260317"/>
                </a:solidFill>
                <a:latin typeface="Montserrat"/>
                <a:ea typeface="Montserrat"/>
                <a:cs typeface="Montserrat"/>
                <a:sym typeface="Montserrat"/>
              </a:rPr>
              <a:t>Method 2</a:t>
            </a:r>
          </a:p>
        </p:txBody>
      </p:sp>
      <p:sp>
        <p:nvSpPr>
          <p:cNvPr id="23" name="TextBox 6">
            <a:extLst>
              <a:ext uri="{FF2B5EF4-FFF2-40B4-BE49-F238E27FC236}">
                <a16:creationId xmlns:a16="http://schemas.microsoft.com/office/drawing/2014/main" id="{B7966866-8108-EB2E-B10C-5171B476B915}"/>
              </a:ext>
            </a:extLst>
          </p:cNvPr>
          <p:cNvSpPr txBox="1"/>
          <p:nvPr/>
        </p:nvSpPr>
        <p:spPr>
          <a:xfrm>
            <a:off x="2279856" y="5447860"/>
            <a:ext cx="5606126" cy="4074513"/>
          </a:xfrm>
          <a:prstGeom prst="rect">
            <a:avLst/>
          </a:prstGeom>
        </p:spPr>
        <p:txBody>
          <a:bodyPr lIns="0" tIns="0" rIns="0" bIns="0" rtlCol="0" anchor="t">
            <a:spAutoFit/>
          </a:bodyPr>
          <a:lstStyle/>
          <a:p>
            <a:pPr marL="342900" indent="-342900" algn="l">
              <a:lnSpc>
                <a:spcPts val="3244"/>
              </a:lnSpc>
              <a:spcBef>
                <a:spcPct val="0"/>
              </a:spcBef>
              <a:buFontTx/>
              <a:buChar char="-"/>
            </a:pPr>
            <a:r>
              <a:rPr lang="en-US" sz="2317" dirty="0">
                <a:solidFill>
                  <a:srgbClr val="260317"/>
                </a:solidFill>
                <a:latin typeface="Montserrat"/>
                <a:ea typeface="Montserrat"/>
                <a:cs typeface="Montserrat"/>
                <a:sym typeface="Montserrat"/>
              </a:rPr>
              <a:t>Shipment tracking</a:t>
            </a:r>
          </a:p>
          <a:p>
            <a:pPr marL="342900" indent="-342900" algn="l">
              <a:lnSpc>
                <a:spcPts val="3244"/>
              </a:lnSpc>
              <a:spcBef>
                <a:spcPct val="0"/>
              </a:spcBef>
              <a:buFontTx/>
              <a:buChar char="-"/>
            </a:pPr>
            <a:r>
              <a:rPr lang="en-US" sz="2317" dirty="0">
                <a:solidFill>
                  <a:srgbClr val="260317"/>
                </a:solidFill>
                <a:latin typeface="Montserrat"/>
                <a:ea typeface="Montserrat"/>
                <a:cs typeface="Montserrat"/>
                <a:sym typeface="Montserrat"/>
              </a:rPr>
              <a:t>Shipment status updates</a:t>
            </a:r>
          </a:p>
          <a:p>
            <a:pPr marL="342900" indent="-342900" algn="l">
              <a:lnSpc>
                <a:spcPts val="3244"/>
              </a:lnSpc>
              <a:spcBef>
                <a:spcPct val="0"/>
              </a:spcBef>
              <a:buFontTx/>
              <a:buChar char="-"/>
            </a:pPr>
            <a:r>
              <a:rPr lang="en-US" sz="2317" dirty="0">
                <a:solidFill>
                  <a:srgbClr val="260317"/>
                </a:solidFill>
                <a:latin typeface="Montserrat"/>
                <a:ea typeface="Montserrat"/>
                <a:cs typeface="Montserrat"/>
                <a:sym typeface="Montserrat"/>
              </a:rPr>
              <a:t>Tracking history</a:t>
            </a:r>
          </a:p>
          <a:p>
            <a:pPr marL="342900" indent="-342900" algn="l">
              <a:lnSpc>
                <a:spcPts val="3244"/>
              </a:lnSpc>
              <a:spcBef>
                <a:spcPct val="0"/>
              </a:spcBef>
              <a:buFontTx/>
              <a:buChar char="-"/>
            </a:pPr>
            <a:r>
              <a:rPr lang="en-US" sz="2317" dirty="0">
                <a:solidFill>
                  <a:srgbClr val="260317"/>
                </a:solidFill>
                <a:latin typeface="Montserrat"/>
                <a:ea typeface="Montserrat"/>
                <a:cs typeface="Montserrat"/>
                <a:sym typeface="Montserrat"/>
              </a:rPr>
              <a:t>customer- end shipment visibility</a:t>
            </a:r>
          </a:p>
          <a:p>
            <a:pPr marL="342900" indent="-342900" algn="l">
              <a:lnSpc>
                <a:spcPts val="3244"/>
              </a:lnSpc>
              <a:spcBef>
                <a:spcPct val="0"/>
              </a:spcBef>
              <a:buFontTx/>
              <a:buChar char="-"/>
            </a:pPr>
            <a:r>
              <a:rPr lang="en-US" sz="2317" dirty="0">
                <a:solidFill>
                  <a:srgbClr val="260317"/>
                </a:solidFill>
                <a:latin typeface="Montserrat"/>
                <a:ea typeface="Montserrat"/>
                <a:cs typeface="Montserrat"/>
                <a:sym typeface="Montserrat"/>
              </a:rPr>
              <a:t>Improved Communication between departments, customer service, transport,, and warehouse staff</a:t>
            </a:r>
          </a:p>
          <a:p>
            <a:pPr marL="342900" indent="-342900" algn="l">
              <a:lnSpc>
                <a:spcPts val="3244"/>
              </a:lnSpc>
              <a:spcBef>
                <a:spcPct val="0"/>
              </a:spcBef>
              <a:buFontTx/>
              <a:buChar char="-"/>
            </a:pPr>
            <a:r>
              <a:rPr lang="en-US" sz="2317" dirty="0">
                <a:solidFill>
                  <a:srgbClr val="260317"/>
                </a:solidFill>
                <a:latin typeface="Montserrat"/>
                <a:ea typeface="Montserrat"/>
                <a:cs typeface="Montserrat"/>
                <a:sym typeface="Montserrat"/>
              </a:rPr>
              <a:t>Handling delivery updates and Managing deliveries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0F1"/>
        </a:solidFill>
        <a:effectLst/>
      </p:bgPr>
    </p:bg>
    <p:spTree>
      <p:nvGrpSpPr>
        <p:cNvPr id="1" name=""/>
        <p:cNvGrpSpPr/>
        <p:nvPr/>
      </p:nvGrpSpPr>
      <p:grpSpPr>
        <a:xfrm>
          <a:off x="0" y="0"/>
          <a:ext cx="0" cy="0"/>
          <a:chOff x="0" y="0"/>
          <a:chExt cx="0" cy="0"/>
        </a:xfrm>
      </p:grpSpPr>
      <p:grpSp>
        <p:nvGrpSpPr>
          <p:cNvPr id="2" name="Group 2"/>
          <p:cNvGrpSpPr/>
          <p:nvPr/>
        </p:nvGrpSpPr>
        <p:grpSpPr>
          <a:xfrm>
            <a:off x="825571" y="648590"/>
            <a:ext cx="16636859" cy="8989819"/>
            <a:chOff x="0" y="0"/>
            <a:chExt cx="4381724" cy="2367689"/>
          </a:xfrm>
        </p:grpSpPr>
        <p:sp>
          <p:nvSpPr>
            <p:cNvPr id="3" name="Freeform 3"/>
            <p:cNvSpPr/>
            <p:nvPr/>
          </p:nvSpPr>
          <p:spPr>
            <a:xfrm>
              <a:off x="0" y="0"/>
              <a:ext cx="4381724" cy="2367689"/>
            </a:xfrm>
            <a:custGeom>
              <a:avLst/>
              <a:gdLst/>
              <a:ahLst/>
              <a:cxnLst/>
              <a:rect l="l" t="t" r="r" b="b"/>
              <a:pathLst>
                <a:path w="4381724" h="2367689">
                  <a:moveTo>
                    <a:pt x="0" y="0"/>
                  </a:moveTo>
                  <a:lnTo>
                    <a:pt x="4381724" y="0"/>
                  </a:lnTo>
                  <a:lnTo>
                    <a:pt x="4381724" y="2367689"/>
                  </a:lnTo>
                  <a:lnTo>
                    <a:pt x="0" y="2367689"/>
                  </a:lnTo>
                  <a:close/>
                </a:path>
              </a:pathLst>
            </a:custGeom>
            <a:ln w="9525" cap="sq">
              <a:solidFill>
                <a:srgbClr val="260317"/>
              </a:solidFill>
              <a:prstDash val="solid"/>
              <a:miter/>
            </a:ln>
          </p:spPr>
          <p:txBody>
            <a:bodyPr/>
            <a:lstStyle/>
            <a:p>
              <a:endParaRPr lang="en-NZ" dirty="0"/>
            </a:p>
          </p:txBody>
        </p:sp>
        <p:sp>
          <p:nvSpPr>
            <p:cNvPr id="4" name="TextBox 4"/>
            <p:cNvSpPr txBox="1"/>
            <p:nvPr/>
          </p:nvSpPr>
          <p:spPr>
            <a:xfrm>
              <a:off x="0" y="38100"/>
              <a:ext cx="4381724" cy="2329589"/>
            </a:xfrm>
            <a:prstGeom prst="rect">
              <a:avLst/>
            </a:prstGeom>
          </p:spPr>
          <p:txBody>
            <a:bodyPr lIns="50800" tIns="50800" rIns="50800" bIns="50800" rtlCol="0" anchor="ctr"/>
            <a:lstStyle/>
            <a:p>
              <a:pPr algn="ctr">
                <a:lnSpc>
                  <a:spcPts val="2356"/>
                </a:lnSpc>
              </a:pPr>
              <a:endParaRPr dirty="0"/>
            </a:p>
          </p:txBody>
        </p:sp>
      </p:grpSp>
      <p:grpSp>
        <p:nvGrpSpPr>
          <p:cNvPr id="5" name="Group 5"/>
          <p:cNvGrpSpPr/>
          <p:nvPr/>
        </p:nvGrpSpPr>
        <p:grpSpPr>
          <a:xfrm>
            <a:off x="2819400" y="3355562"/>
            <a:ext cx="11649533" cy="6138187"/>
            <a:chOff x="0" y="0"/>
            <a:chExt cx="894514" cy="381968"/>
          </a:xfrm>
        </p:grpSpPr>
        <p:sp>
          <p:nvSpPr>
            <p:cNvPr id="6" name="Freeform 6"/>
            <p:cNvSpPr/>
            <p:nvPr/>
          </p:nvSpPr>
          <p:spPr>
            <a:xfrm>
              <a:off x="0" y="0"/>
              <a:ext cx="894514" cy="381968"/>
            </a:xfrm>
            <a:custGeom>
              <a:avLst/>
              <a:gdLst/>
              <a:ahLst/>
              <a:cxnLst/>
              <a:rect l="l" t="t" r="r" b="b"/>
              <a:pathLst>
                <a:path w="894514" h="381968">
                  <a:moveTo>
                    <a:pt x="10228" y="0"/>
                  </a:moveTo>
                  <a:lnTo>
                    <a:pt x="884287" y="0"/>
                  </a:lnTo>
                  <a:cubicBezTo>
                    <a:pt x="889935" y="0"/>
                    <a:pt x="894514" y="4579"/>
                    <a:pt x="894514" y="10228"/>
                  </a:cubicBezTo>
                  <a:lnTo>
                    <a:pt x="894514" y="371740"/>
                  </a:lnTo>
                  <a:cubicBezTo>
                    <a:pt x="894514" y="374453"/>
                    <a:pt x="893437" y="377054"/>
                    <a:pt x="891519" y="378972"/>
                  </a:cubicBezTo>
                  <a:cubicBezTo>
                    <a:pt x="889600" y="380890"/>
                    <a:pt x="886999" y="381968"/>
                    <a:pt x="884287" y="381968"/>
                  </a:cubicBezTo>
                  <a:lnTo>
                    <a:pt x="10228" y="381968"/>
                  </a:lnTo>
                  <a:cubicBezTo>
                    <a:pt x="4579" y="381968"/>
                    <a:pt x="0" y="377389"/>
                    <a:pt x="0" y="371740"/>
                  </a:cubicBezTo>
                  <a:lnTo>
                    <a:pt x="0" y="10228"/>
                  </a:lnTo>
                  <a:cubicBezTo>
                    <a:pt x="0" y="7515"/>
                    <a:pt x="1078" y="4914"/>
                    <a:pt x="2996" y="2996"/>
                  </a:cubicBezTo>
                  <a:cubicBezTo>
                    <a:pt x="4914" y="1078"/>
                    <a:pt x="7515" y="0"/>
                    <a:pt x="10228" y="0"/>
                  </a:cubicBezTo>
                  <a:close/>
                </a:path>
              </a:pathLst>
            </a:custGeom>
            <a:solidFill>
              <a:srgbClr val="EAD3E0"/>
            </a:solidFill>
            <a:ln cap="sq">
              <a:noFill/>
              <a:prstDash val="solid"/>
              <a:miter/>
            </a:ln>
          </p:spPr>
          <p:txBody>
            <a:bodyPr/>
            <a:lstStyle/>
            <a:p>
              <a:endParaRPr lang="en-NZ" dirty="0"/>
            </a:p>
          </p:txBody>
        </p:sp>
        <p:sp>
          <p:nvSpPr>
            <p:cNvPr id="7" name="TextBox 7"/>
            <p:cNvSpPr txBox="1"/>
            <p:nvPr/>
          </p:nvSpPr>
          <p:spPr>
            <a:xfrm>
              <a:off x="0" y="-57150"/>
              <a:ext cx="894514" cy="439118"/>
            </a:xfrm>
            <a:prstGeom prst="rect">
              <a:avLst/>
            </a:prstGeom>
          </p:spPr>
          <p:txBody>
            <a:bodyPr lIns="50800" tIns="50800" rIns="50800" bIns="50800" rtlCol="0" anchor="ctr"/>
            <a:lstStyle/>
            <a:p>
              <a:pPr algn="ctr">
                <a:lnSpc>
                  <a:spcPts val="4480"/>
                </a:lnSpc>
              </a:pPr>
              <a:endParaRPr dirty="0"/>
            </a:p>
          </p:txBody>
        </p:sp>
      </p:grpSp>
      <p:sp>
        <p:nvSpPr>
          <p:cNvPr id="17" name="TextBox 17"/>
          <p:cNvSpPr txBox="1"/>
          <p:nvPr/>
        </p:nvSpPr>
        <p:spPr>
          <a:xfrm>
            <a:off x="3189649" y="5420353"/>
            <a:ext cx="10909034" cy="3058338"/>
          </a:xfrm>
          <a:prstGeom prst="rect">
            <a:avLst/>
          </a:prstGeom>
        </p:spPr>
        <p:txBody>
          <a:bodyPr wrap="square" lIns="0" tIns="0" rIns="0" bIns="0" rtlCol="0" anchor="t">
            <a:spAutoFit/>
          </a:bodyPr>
          <a:lstStyle/>
          <a:p>
            <a:pPr algn="ctr">
              <a:lnSpc>
                <a:spcPts val="1976"/>
              </a:lnSpc>
            </a:pPr>
            <a:r>
              <a:rPr lang="en-US" sz="4500" dirty="0">
                <a:solidFill>
                  <a:srgbClr val="260317"/>
                </a:solidFill>
                <a:latin typeface="Montserrat"/>
                <a:ea typeface="Montserrat"/>
                <a:cs typeface="Montserrat"/>
                <a:sym typeface="Montserrat"/>
              </a:rPr>
              <a:t> Customer</a:t>
            </a:r>
          </a:p>
          <a:p>
            <a:pPr algn="ctr">
              <a:lnSpc>
                <a:spcPts val="1976"/>
              </a:lnSpc>
            </a:pPr>
            <a:endParaRPr lang="en-US" sz="4500" dirty="0">
              <a:solidFill>
                <a:srgbClr val="260317"/>
              </a:solidFill>
              <a:latin typeface="Montserrat"/>
              <a:ea typeface="Montserrat"/>
              <a:cs typeface="Montserrat"/>
              <a:sym typeface="Montserrat"/>
            </a:endParaRPr>
          </a:p>
          <a:p>
            <a:pPr algn="ctr">
              <a:lnSpc>
                <a:spcPts val="1976"/>
              </a:lnSpc>
            </a:pPr>
            <a:r>
              <a:rPr lang="en-US" sz="4500" dirty="0">
                <a:solidFill>
                  <a:srgbClr val="260317"/>
                </a:solidFill>
                <a:latin typeface="Montserrat"/>
                <a:ea typeface="Montserrat"/>
                <a:cs typeface="Montserrat"/>
                <a:sym typeface="Montserrat"/>
              </a:rPr>
              <a:t>Operations staff/dispatch staff</a:t>
            </a:r>
          </a:p>
          <a:p>
            <a:pPr algn="ctr">
              <a:lnSpc>
                <a:spcPts val="1976"/>
              </a:lnSpc>
            </a:pPr>
            <a:endParaRPr lang="en-US" sz="4500" dirty="0">
              <a:solidFill>
                <a:srgbClr val="260317"/>
              </a:solidFill>
              <a:latin typeface="Montserrat"/>
              <a:ea typeface="Montserrat"/>
              <a:cs typeface="Montserrat"/>
              <a:sym typeface="Montserrat"/>
            </a:endParaRPr>
          </a:p>
          <a:p>
            <a:pPr algn="ctr">
              <a:lnSpc>
                <a:spcPts val="1976"/>
              </a:lnSpc>
            </a:pPr>
            <a:r>
              <a:rPr lang="en-US" sz="4500" dirty="0">
                <a:solidFill>
                  <a:srgbClr val="260317"/>
                </a:solidFill>
                <a:latin typeface="Montserrat"/>
                <a:ea typeface="Montserrat"/>
                <a:cs typeface="Montserrat"/>
                <a:sym typeface="Montserrat"/>
              </a:rPr>
              <a:t>Warehouse staff</a:t>
            </a:r>
          </a:p>
          <a:p>
            <a:pPr algn="ctr">
              <a:lnSpc>
                <a:spcPts val="1976"/>
              </a:lnSpc>
            </a:pPr>
            <a:endParaRPr lang="en-US" sz="4500" dirty="0">
              <a:solidFill>
                <a:srgbClr val="260317"/>
              </a:solidFill>
              <a:latin typeface="Montserrat"/>
              <a:ea typeface="Montserrat"/>
              <a:cs typeface="Montserrat"/>
              <a:sym typeface="Montserrat"/>
            </a:endParaRPr>
          </a:p>
          <a:p>
            <a:pPr algn="ctr">
              <a:lnSpc>
                <a:spcPts val="1976"/>
              </a:lnSpc>
            </a:pPr>
            <a:r>
              <a:rPr lang="en-US" sz="4500" dirty="0">
                <a:solidFill>
                  <a:srgbClr val="260317"/>
                </a:solidFill>
                <a:latin typeface="Montserrat"/>
                <a:ea typeface="Montserrat"/>
                <a:cs typeface="Montserrat"/>
                <a:sym typeface="Montserrat"/>
              </a:rPr>
              <a:t>Customer service staff</a:t>
            </a:r>
          </a:p>
          <a:p>
            <a:pPr algn="ctr">
              <a:lnSpc>
                <a:spcPts val="1976"/>
              </a:lnSpc>
            </a:pPr>
            <a:endParaRPr lang="en-US" sz="4500" dirty="0">
              <a:solidFill>
                <a:srgbClr val="260317"/>
              </a:solidFill>
              <a:latin typeface="Montserrat"/>
              <a:ea typeface="Montserrat"/>
              <a:cs typeface="Montserrat"/>
              <a:sym typeface="Montserrat"/>
            </a:endParaRPr>
          </a:p>
          <a:p>
            <a:pPr algn="ctr">
              <a:lnSpc>
                <a:spcPts val="1976"/>
              </a:lnSpc>
            </a:pPr>
            <a:r>
              <a:rPr lang="en-US" sz="4500" dirty="0">
                <a:solidFill>
                  <a:srgbClr val="260317"/>
                </a:solidFill>
                <a:latin typeface="Montserrat"/>
                <a:ea typeface="Montserrat"/>
                <a:cs typeface="Montserrat"/>
                <a:sym typeface="Montserrat"/>
              </a:rPr>
              <a:t>Managers</a:t>
            </a:r>
          </a:p>
          <a:p>
            <a:pPr algn="ctr">
              <a:lnSpc>
                <a:spcPts val="1976"/>
              </a:lnSpc>
            </a:pPr>
            <a:endParaRPr lang="en-US" sz="4500" dirty="0">
              <a:solidFill>
                <a:srgbClr val="260317"/>
              </a:solidFill>
              <a:latin typeface="Montserrat"/>
              <a:ea typeface="Montserrat"/>
              <a:cs typeface="Montserrat"/>
              <a:sym typeface="Montserrat"/>
            </a:endParaRPr>
          </a:p>
          <a:p>
            <a:pPr algn="ctr">
              <a:lnSpc>
                <a:spcPts val="1976"/>
              </a:lnSpc>
            </a:pPr>
            <a:r>
              <a:rPr lang="en-US" sz="4500" dirty="0">
                <a:solidFill>
                  <a:srgbClr val="260317"/>
                </a:solidFill>
                <a:latin typeface="Montserrat"/>
                <a:ea typeface="Montserrat"/>
                <a:cs typeface="Montserrat"/>
                <a:sym typeface="Montserrat"/>
              </a:rPr>
              <a:t>IT Admins</a:t>
            </a:r>
          </a:p>
          <a:p>
            <a:pPr algn="l">
              <a:lnSpc>
                <a:spcPts val="1976"/>
              </a:lnSpc>
            </a:pPr>
            <a:r>
              <a:rPr lang="en-US" sz="1411" dirty="0">
                <a:solidFill>
                  <a:srgbClr val="260317"/>
                </a:solidFill>
                <a:latin typeface="Montserrat"/>
                <a:ea typeface="Montserrat"/>
                <a:cs typeface="Montserrat"/>
                <a:sym typeface="Montserrat"/>
              </a:rPr>
              <a:t>\. </a:t>
            </a:r>
          </a:p>
        </p:txBody>
      </p:sp>
      <p:sp>
        <p:nvSpPr>
          <p:cNvPr id="18" name="TextBox 18"/>
          <p:cNvSpPr txBox="1"/>
          <p:nvPr/>
        </p:nvSpPr>
        <p:spPr>
          <a:xfrm>
            <a:off x="1028700" y="1566239"/>
            <a:ext cx="16230600" cy="1023105"/>
          </a:xfrm>
          <a:prstGeom prst="rect">
            <a:avLst/>
          </a:prstGeom>
        </p:spPr>
        <p:txBody>
          <a:bodyPr lIns="0" tIns="0" rIns="0" bIns="0" rtlCol="0" anchor="t">
            <a:spAutoFit/>
          </a:bodyPr>
          <a:lstStyle/>
          <a:p>
            <a:pPr algn="ctr">
              <a:lnSpc>
                <a:spcPts val="7956"/>
              </a:lnSpc>
            </a:pPr>
            <a:r>
              <a:rPr lang="en-US" sz="6468" spc="1086" dirty="0">
                <a:solidFill>
                  <a:srgbClr val="260317"/>
                </a:solidFill>
                <a:latin typeface="Catchy Mager"/>
                <a:ea typeface="Catchy Mager"/>
                <a:cs typeface="Catchy Mager"/>
                <a:sym typeface="Catchy Mager"/>
              </a:rPr>
              <a:t>Stakeholders &amp; Roles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51576" t="-3683" r="-850" b="-48743"/>
            </a:stretch>
          </a:blipFill>
        </p:spPr>
        <p:txBody>
          <a:bodyPr/>
          <a:lstStyle/>
          <a:p>
            <a:endParaRPr lang="en-NZ" dirty="0"/>
          </a:p>
        </p:txBody>
      </p:sp>
      <p:grpSp>
        <p:nvGrpSpPr>
          <p:cNvPr id="3" name="Group 3"/>
          <p:cNvGrpSpPr/>
          <p:nvPr/>
        </p:nvGrpSpPr>
        <p:grpSpPr>
          <a:xfrm>
            <a:off x="825571" y="648590"/>
            <a:ext cx="16636859" cy="8989819"/>
            <a:chOff x="0" y="0"/>
            <a:chExt cx="4381724" cy="2367689"/>
          </a:xfrm>
        </p:grpSpPr>
        <p:sp>
          <p:nvSpPr>
            <p:cNvPr id="4" name="Freeform 4"/>
            <p:cNvSpPr/>
            <p:nvPr/>
          </p:nvSpPr>
          <p:spPr>
            <a:xfrm>
              <a:off x="0" y="0"/>
              <a:ext cx="4381724" cy="2367689"/>
            </a:xfrm>
            <a:custGeom>
              <a:avLst/>
              <a:gdLst/>
              <a:ahLst/>
              <a:cxnLst/>
              <a:rect l="l" t="t" r="r" b="b"/>
              <a:pathLst>
                <a:path w="4381724" h="2367689">
                  <a:moveTo>
                    <a:pt x="0" y="0"/>
                  </a:moveTo>
                  <a:lnTo>
                    <a:pt x="4381724" y="0"/>
                  </a:lnTo>
                  <a:lnTo>
                    <a:pt x="4381724" y="2367689"/>
                  </a:lnTo>
                  <a:lnTo>
                    <a:pt x="0" y="2367689"/>
                  </a:lnTo>
                  <a:close/>
                </a:path>
              </a:pathLst>
            </a:custGeom>
            <a:ln w="38100" cap="sq">
              <a:solidFill>
                <a:srgbClr val="FFFFFF"/>
              </a:solidFill>
              <a:prstDash val="solid"/>
              <a:miter/>
            </a:ln>
          </p:spPr>
          <p:txBody>
            <a:bodyPr/>
            <a:lstStyle/>
            <a:p>
              <a:endParaRPr lang="en-NZ" dirty="0"/>
            </a:p>
          </p:txBody>
        </p:sp>
        <p:sp>
          <p:nvSpPr>
            <p:cNvPr id="5" name="TextBox 5"/>
            <p:cNvSpPr txBox="1"/>
            <p:nvPr/>
          </p:nvSpPr>
          <p:spPr>
            <a:xfrm>
              <a:off x="0" y="38100"/>
              <a:ext cx="4381724" cy="2329589"/>
            </a:xfrm>
            <a:prstGeom prst="rect">
              <a:avLst/>
            </a:prstGeom>
          </p:spPr>
          <p:txBody>
            <a:bodyPr lIns="50800" tIns="50800" rIns="50800" bIns="50800" rtlCol="0" anchor="ctr"/>
            <a:lstStyle/>
            <a:p>
              <a:pPr algn="ctr">
                <a:lnSpc>
                  <a:spcPts val="2356"/>
                </a:lnSpc>
              </a:pPr>
              <a:endParaRPr dirty="0"/>
            </a:p>
          </p:txBody>
        </p:sp>
      </p:grpSp>
      <p:grpSp>
        <p:nvGrpSpPr>
          <p:cNvPr id="6" name="Group 6"/>
          <p:cNvGrpSpPr/>
          <p:nvPr/>
        </p:nvGrpSpPr>
        <p:grpSpPr>
          <a:xfrm>
            <a:off x="6553707" y="3561504"/>
            <a:ext cx="2498868" cy="2498868"/>
            <a:chOff x="0" y="0"/>
            <a:chExt cx="3331824" cy="3331824"/>
          </a:xfrm>
        </p:grpSpPr>
        <p:grpSp>
          <p:nvGrpSpPr>
            <p:cNvPr id="7" name="Group 7"/>
            <p:cNvGrpSpPr>
              <a:grpSpLocks noChangeAspect="1"/>
            </p:cNvGrpSpPr>
            <p:nvPr/>
          </p:nvGrpSpPr>
          <p:grpSpPr>
            <a:xfrm>
              <a:off x="0" y="0"/>
              <a:ext cx="3331824" cy="3331824"/>
              <a:chOff x="0" y="0"/>
              <a:chExt cx="14400530" cy="14400530"/>
            </a:xfrm>
          </p:grpSpPr>
          <p:sp>
            <p:nvSpPr>
              <p:cNvPr id="8" name="Freeform 8"/>
              <p:cNvSpPr/>
              <p:nvPr/>
            </p:nvSpPr>
            <p:spPr>
              <a:xfrm>
                <a:off x="0" y="0"/>
                <a:ext cx="14399261" cy="14399261"/>
              </a:xfrm>
              <a:custGeom>
                <a:avLst/>
                <a:gdLst/>
                <a:ahLst/>
                <a:cxnLst/>
                <a:rect l="l" t="t" r="r" b="b"/>
                <a:pathLst>
                  <a:path w="14399261"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FAEEF5"/>
              </a:solidFill>
            </p:spPr>
            <p:txBody>
              <a:bodyPr/>
              <a:lstStyle/>
              <a:p>
                <a:endParaRPr lang="en-NZ" dirty="0"/>
              </a:p>
            </p:txBody>
          </p:sp>
        </p:grpSp>
        <p:grpSp>
          <p:nvGrpSpPr>
            <p:cNvPr id="9" name="Group 9"/>
            <p:cNvGrpSpPr/>
            <p:nvPr/>
          </p:nvGrpSpPr>
          <p:grpSpPr>
            <a:xfrm>
              <a:off x="408917" y="466286"/>
              <a:ext cx="2505689" cy="2505689"/>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3E0"/>
              </a:solidFill>
            </p:spPr>
            <p:txBody>
              <a:bodyPr/>
              <a:lstStyle/>
              <a:p>
                <a:endParaRPr lang="en-NZ" dirty="0"/>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800"/>
                  </a:lnSpc>
                </a:pPr>
                <a:endParaRPr dirty="0"/>
              </a:p>
            </p:txBody>
          </p:sp>
        </p:grpSp>
      </p:grpSp>
      <p:grpSp>
        <p:nvGrpSpPr>
          <p:cNvPr id="12" name="Group 12"/>
          <p:cNvGrpSpPr/>
          <p:nvPr/>
        </p:nvGrpSpPr>
        <p:grpSpPr>
          <a:xfrm>
            <a:off x="9235425" y="3561504"/>
            <a:ext cx="2498868" cy="2498868"/>
            <a:chOff x="0" y="0"/>
            <a:chExt cx="3331824" cy="3331824"/>
          </a:xfrm>
        </p:grpSpPr>
        <p:grpSp>
          <p:nvGrpSpPr>
            <p:cNvPr id="13" name="Group 13"/>
            <p:cNvGrpSpPr>
              <a:grpSpLocks noChangeAspect="1"/>
            </p:cNvGrpSpPr>
            <p:nvPr/>
          </p:nvGrpSpPr>
          <p:grpSpPr>
            <a:xfrm rot="5400000">
              <a:off x="0" y="0"/>
              <a:ext cx="3331824" cy="3331824"/>
              <a:chOff x="0" y="0"/>
              <a:chExt cx="14400530" cy="14400530"/>
            </a:xfrm>
          </p:grpSpPr>
          <p:sp>
            <p:nvSpPr>
              <p:cNvPr id="14" name="Freeform 14"/>
              <p:cNvSpPr/>
              <p:nvPr/>
            </p:nvSpPr>
            <p:spPr>
              <a:xfrm>
                <a:off x="0" y="0"/>
                <a:ext cx="14399261" cy="14399261"/>
              </a:xfrm>
              <a:custGeom>
                <a:avLst/>
                <a:gdLst/>
                <a:ahLst/>
                <a:cxnLst/>
                <a:rect l="l" t="t" r="r" b="b"/>
                <a:pathLst>
                  <a:path w="14399261"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FAEEF5"/>
              </a:solidFill>
            </p:spPr>
            <p:txBody>
              <a:bodyPr/>
              <a:lstStyle/>
              <a:p>
                <a:endParaRPr lang="en-NZ" dirty="0"/>
              </a:p>
            </p:txBody>
          </p:sp>
        </p:grpSp>
        <p:grpSp>
          <p:nvGrpSpPr>
            <p:cNvPr id="15" name="Group 15"/>
            <p:cNvGrpSpPr/>
            <p:nvPr/>
          </p:nvGrpSpPr>
          <p:grpSpPr>
            <a:xfrm>
              <a:off x="386640" y="461273"/>
              <a:ext cx="2510702" cy="251070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3E0"/>
              </a:solidFill>
            </p:spPr>
            <p:txBody>
              <a:bodyPr/>
              <a:lstStyle/>
              <a:p>
                <a:endParaRPr lang="en-NZ" dirty="0"/>
              </a:p>
            </p:txBody>
          </p:sp>
          <p:sp>
            <p:nvSpPr>
              <p:cNvPr id="17" name="TextBox 17"/>
              <p:cNvSpPr txBox="1"/>
              <p:nvPr/>
            </p:nvSpPr>
            <p:spPr>
              <a:xfrm>
                <a:off x="76200" y="38100"/>
                <a:ext cx="660400" cy="698500"/>
              </a:xfrm>
              <a:prstGeom prst="rect">
                <a:avLst/>
              </a:prstGeom>
            </p:spPr>
            <p:txBody>
              <a:bodyPr lIns="50800" tIns="50800" rIns="50800" bIns="50800" rtlCol="0" anchor="ctr"/>
              <a:lstStyle/>
              <a:p>
                <a:pPr algn="ctr">
                  <a:lnSpc>
                    <a:spcPts val="2800"/>
                  </a:lnSpc>
                </a:pPr>
                <a:endParaRPr dirty="0"/>
              </a:p>
            </p:txBody>
          </p:sp>
        </p:grpSp>
      </p:grpSp>
      <p:grpSp>
        <p:nvGrpSpPr>
          <p:cNvPr id="18" name="Group 18"/>
          <p:cNvGrpSpPr/>
          <p:nvPr/>
        </p:nvGrpSpPr>
        <p:grpSpPr>
          <a:xfrm>
            <a:off x="9235425" y="6191564"/>
            <a:ext cx="2498868" cy="2498868"/>
            <a:chOff x="0" y="0"/>
            <a:chExt cx="3331824" cy="3331824"/>
          </a:xfrm>
        </p:grpSpPr>
        <p:grpSp>
          <p:nvGrpSpPr>
            <p:cNvPr id="19" name="Group 19"/>
            <p:cNvGrpSpPr>
              <a:grpSpLocks noChangeAspect="1"/>
            </p:cNvGrpSpPr>
            <p:nvPr/>
          </p:nvGrpSpPr>
          <p:grpSpPr>
            <a:xfrm rot="-10800000">
              <a:off x="0" y="0"/>
              <a:ext cx="3331824" cy="3331824"/>
              <a:chOff x="0" y="0"/>
              <a:chExt cx="14400530" cy="14400530"/>
            </a:xfrm>
          </p:grpSpPr>
          <p:sp>
            <p:nvSpPr>
              <p:cNvPr id="20" name="Freeform 20"/>
              <p:cNvSpPr/>
              <p:nvPr/>
            </p:nvSpPr>
            <p:spPr>
              <a:xfrm>
                <a:off x="0" y="0"/>
                <a:ext cx="14399261" cy="14399261"/>
              </a:xfrm>
              <a:custGeom>
                <a:avLst/>
                <a:gdLst/>
                <a:ahLst/>
                <a:cxnLst/>
                <a:rect l="l" t="t" r="r" b="b"/>
                <a:pathLst>
                  <a:path w="14399261"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FAEEF5"/>
              </a:solidFill>
            </p:spPr>
            <p:txBody>
              <a:bodyPr/>
              <a:lstStyle/>
              <a:p>
                <a:endParaRPr lang="en-NZ" dirty="0"/>
              </a:p>
            </p:txBody>
          </p:sp>
        </p:grpSp>
        <p:grpSp>
          <p:nvGrpSpPr>
            <p:cNvPr id="21" name="Group 21"/>
            <p:cNvGrpSpPr/>
            <p:nvPr/>
          </p:nvGrpSpPr>
          <p:grpSpPr>
            <a:xfrm>
              <a:off x="374877" y="374877"/>
              <a:ext cx="2530206" cy="2530206"/>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3E0"/>
              </a:solidFill>
            </p:spPr>
            <p:txBody>
              <a:bodyPr/>
              <a:lstStyle/>
              <a:p>
                <a:endParaRPr lang="en-NZ" dirty="0"/>
              </a:p>
            </p:txBody>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800"/>
                  </a:lnSpc>
                </a:pPr>
                <a:endParaRPr dirty="0"/>
              </a:p>
            </p:txBody>
          </p:sp>
        </p:grpSp>
      </p:grpSp>
      <p:grpSp>
        <p:nvGrpSpPr>
          <p:cNvPr id="24" name="Group 24"/>
          <p:cNvGrpSpPr/>
          <p:nvPr/>
        </p:nvGrpSpPr>
        <p:grpSpPr>
          <a:xfrm>
            <a:off x="6553707" y="6191564"/>
            <a:ext cx="2521050" cy="2521050"/>
            <a:chOff x="0" y="0"/>
            <a:chExt cx="3361401" cy="3361401"/>
          </a:xfrm>
        </p:grpSpPr>
        <p:grpSp>
          <p:nvGrpSpPr>
            <p:cNvPr id="25" name="Group 25"/>
            <p:cNvGrpSpPr>
              <a:grpSpLocks noChangeAspect="1"/>
            </p:cNvGrpSpPr>
            <p:nvPr/>
          </p:nvGrpSpPr>
          <p:grpSpPr>
            <a:xfrm rot="-5400000">
              <a:off x="0" y="0"/>
              <a:ext cx="3361401" cy="3361401"/>
              <a:chOff x="0" y="0"/>
              <a:chExt cx="14400530" cy="14400530"/>
            </a:xfrm>
          </p:grpSpPr>
          <p:sp>
            <p:nvSpPr>
              <p:cNvPr id="26" name="Freeform 26"/>
              <p:cNvSpPr/>
              <p:nvPr/>
            </p:nvSpPr>
            <p:spPr>
              <a:xfrm>
                <a:off x="0" y="0"/>
                <a:ext cx="14399261" cy="14399261"/>
              </a:xfrm>
              <a:custGeom>
                <a:avLst/>
                <a:gdLst/>
                <a:ahLst/>
                <a:cxnLst/>
                <a:rect l="l" t="t" r="r" b="b"/>
                <a:pathLst>
                  <a:path w="14399261"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FAEEF5"/>
              </a:solidFill>
            </p:spPr>
            <p:txBody>
              <a:bodyPr/>
              <a:lstStyle/>
              <a:p>
                <a:endParaRPr lang="en-NZ" dirty="0"/>
              </a:p>
            </p:txBody>
          </p:sp>
        </p:grpSp>
        <p:grpSp>
          <p:nvGrpSpPr>
            <p:cNvPr id="27" name="Group 27"/>
            <p:cNvGrpSpPr/>
            <p:nvPr/>
          </p:nvGrpSpPr>
          <p:grpSpPr>
            <a:xfrm>
              <a:off x="408917" y="443611"/>
              <a:ext cx="2508873" cy="250887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3E0"/>
              </a:solidFill>
            </p:spPr>
            <p:txBody>
              <a:bodyPr/>
              <a:lstStyle/>
              <a:p>
                <a:endParaRPr lang="en-NZ" dirty="0"/>
              </a:p>
            </p:txBody>
          </p:sp>
          <p:sp>
            <p:nvSpPr>
              <p:cNvPr id="29" name="TextBox 29"/>
              <p:cNvSpPr txBox="1"/>
              <p:nvPr/>
            </p:nvSpPr>
            <p:spPr>
              <a:xfrm>
                <a:off x="76200" y="38100"/>
                <a:ext cx="660400" cy="698500"/>
              </a:xfrm>
              <a:prstGeom prst="rect">
                <a:avLst/>
              </a:prstGeom>
            </p:spPr>
            <p:txBody>
              <a:bodyPr lIns="50800" tIns="50800" rIns="50800" bIns="50800" rtlCol="0" anchor="ctr"/>
              <a:lstStyle/>
              <a:p>
                <a:pPr algn="ctr">
                  <a:lnSpc>
                    <a:spcPts val="2800"/>
                  </a:lnSpc>
                </a:pPr>
                <a:endParaRPr dirty="0"/>
              </a:p>
            </p:txBody>
          </p:sp>
        </p:grpSp>
      </p:grpSp>
      <p:sp>
        <p:nvSpPr>
          <p:cNvPr id="30" name="TextBox 30"/>
          <p:cNvSpPr txBox="1"/>
          <p:nvPr/>
        </p:nvSpPr>
        <p:spPr>
          <a:xfrm>
            <a:off x="2664615" y="786850"/>
            <a:ext cx="13142058" cy="2383858"/>
          </a:xfrm>
          <a:prstGeom prst="rect">
            <a:avLst/>
          </a:prstGeom>
        </p:spPr>
        <p:txBody>
          <a:bodyPr lIns="0" tIns="0" rIns="0" bIns="0" rtlCol="0" anchor="t">
            <a:spAutoFit/>
          </a:bodyPr>
          <a:lstStyle/>
          <a:p>
            <a:pPr algn="ctr">
              <a:lnSpc>
                <a:spcPts val="9146"/>
              </a:lnSpc>
            </a:pPr>
            <a:r>
              <a:rPr lang="en-US" sz="8880" spc="985" dirty="0">
                <a:solidFill>
                  <a:srgbClr val="260317"/>
                </a:solidFill>
                <a:latin typeface="Catchy Mager"/>
                <a:ea typeface="Catchy Mager"/>
                <a:cs typeface="Catchy Mager"/>
                <a:sym typeface="Catchy Mager"/>
              </a:rPr>
              <a:t>Requirements Elicitation &amp; Analysis</a:t>
            </a:r>
          </a:p>
        </p:txBody>
      </p:sp>
      <p:sp>
        <p:nvSpPr>
          <p:cNvPr id="31" name="Freeform 31"/>
          <p:cNvSpPr/>
          <p:nvPr/>
        </p:nvSpPr>
        <p:spPr>
          <a:xfrm>
            <a:off x="7323829" y="4195991"/>
            <a:ext cx="952399" cy="1411913"/>
          </a:xfrm>
          <a:custGeom>
            <a:avLst/>
            <a:gdLst/>
            <a:ahLst/>
            <a:cxnLst/>
            <a:rect l="l" t="t" r="r" b="b"/>
            <a:pathLst>
              <a:path w="952399" h="1411913">
                <a:moveTo>
                  <a:pt x="0" y="0"/>
                </a:moveTo>
                <a:lnTo>
                  <a:pt x="952400" y="0"/>
                </a:lnTo>
                <a:lnTo>
                  <a:pt x="952400" y="1411913"/>
                </a:lnTo>
                <a:lnTo>
                  <a:pt x="0" y="141191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NZ" dirty="0"/>
          </a:p>
        </p:txBody>
      </p:sp>
      <p:sp>
        <p:nvSpPr>
          <p:cNvPr id="32" name="Freeform 32"/>
          <p:cNvSpPr/>
          <p:nvPr/>
        </p:nvSpPr>
        <p:spPr>
          <a:xfrm>
            <a:off x="9968395" y="6857927"/>
            <a:ext cx="1047406" cy="1166140"/>
          </a:xfrm>
          <a:custGeom>
            <a:avLst/>
            <a:gdLst/>
            <a:ahLst/>
            <a:cxnLst/>
            <a:rect l="l" t="t" r="r" b="b"/>
            <a:pathLst>
              <a:path w="1047406" h="1166140">
                <a:moveTo>
                  <a:pt x="0" y="0"/>
                </a:moveTo>
                <a:lnTo>
                  <a:pt x="1047405" y="0"/>
                </a:lnTo>
                <a:lnTo>
                  <a:pt x="1047405" y="1166140"/>
                </a:lnTo>
                <a:lnTo>
                  <a:pt x="0" y="116614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NZ" dirty="0"/>
          </a:p>
        </p:txBody>
      </p:sp>
      <p:sp>
        <p:nvSpPr>
          <p:cNvPr id="33" name="Freeform 33"/>
          <p:cNvSpPr/>
          <p:nvPr/>
        </p:nvSpPr>
        <p:spPr>
          <a:xfrm>
            <a:off x="10009650" y="4312945"/>
            <a:ext cx="973317" cy="1112940"/>
          </a:xfrm>
          <a:custGeom>
            <a:avLst/>
            <a:gdLst/>
            <a:ahLst/>
            <a:cxnLst/>
            <a:rect l="l" t="t" r="r" b="b"/>
            <a:pathLst>
              <a:path w="973317" h="1112940">
                <a:moveTo>
                  <a:pt x="0" y="0"/>
                </a:moveTo>
                <a:lnTo>
                  <a:pt x="973317" y="0"/>
                </a:lnTo>
                <a:lnTo>
                  <a:pt x="973317" y="1112941"/>
                </a:lnTo>
                <a:lnTo>
                  <a:pt x="0" y="111294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NZ" dirty="0"/>
          </a:p>
        </p:txBody>
      </p:sp>
      <p:sp>
        <p:nvSpPr>
          <p:cNvPr id="34" name="Freeform 34"/>
          <p:cNvSpPr/>
          <p:nvPr/>
        </p:nvSpPr>
        <p:spPr>
          <a:xfrm>
            <a:off x="7275352" y="6848491"/>
            <a:ext cx="1049354" cy="1233215"/>
          </a:xfrm>
          <a:custGeom>
            <a:avLst/>
            <a:gdLst/>
            <a:ahLst/>
            <a:cxnLst/>
            <a:rect l="l" t="t" r="r" b="b"/>
            <a:pathLst>
              <a:path w="1049354" h="1233215">
                <a:moveTo>
                  <a:pt x="0" y="0"/>
                </a:moveTo>
                <a:lnTo>
                  <a:pt x="1049354" y="0"/>
                </a:lnTo>
                <a:lnTo>
                  <a:pt x="1049354" y="1233215"/>
                </a:lnTo>
                <a:lnTo>
                  <a:pt x="0" y="123321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NZ" dirty="0"/>
          </a:p>
        </p:txBody>
      </p:sp>
      <p:sp>
        <p:nvSpPr>
          <p:cNvPr id="35" name="TextBox 35"/>
          <p:cNvSpPr txBox="1"/>
          <p:nvPr/>
        </p:nvSpPr>
        <p:spPr>
          <a:xfrm>
            <a:off x="2453464" y="3504354"/>
            <a:ext cx="3851312" cy="410369"/>
          </a:xfrm>
          <a:prstGeom prst="rect">
            <a:avLst/>
          </a:prstGeom>
        </p:spPr>
        <p:txBody>
          <a:bodyPr wrap="square" lIns="0" tIns="0" rIns="0" bIns="0" rtlCol="0" anchor="t">
            <a:spAutoFit/>
          </a:bodyPr>
          <a:lstStyle/>
          <a:p>
            <a:pPr algn="l">
              <a:lnSpc>
                <a:spcPts val="3236"/>
              </a:lnSpc>
              <a:spcBef>
                <a:spcPct val="0"/>
              </a:spcBef>
            </a:pPr>
            <a:r>
              <a:rPr lang="en-US" sz="2311" dirty="0">
                <a:solidFill>
                  <a:srgbClr val="260317"/>
                </a:solidFill>
                <a:latin typeface="Catchy Mager"/>
                <a:ea typeface="Catchy Mager"/>
                <a:cs typeface="Catchy Mager"/>
                <a:sym typeface="Catchy Mager"/>
              </a:rPr>
              <a:t>Requirement Elicitation</a:t>
            </a:r>
          </a:p>
        </p:txBody>
      </p:sp>
      <p:sp>
        <p:nvSpPr>
          <p:cNvPr id="36" name="TextBox 36"/>
          <p:cNvSpPr txBox="1"/>
          <p:nvPr/>
        </p:nvSpPr>
        <p:spPr>
          <a:xfrm>
            <a:off x="12939939" y="3504354"/>
            <a:ext cx="3418129" cy="408006"/>
          </a:xfrm>
          <a:prstGeom prst="rect">
            <a:avLst/>
          </a:prstGeom>
        </p:spPr>
        <p:txBody>
          <a:bodyPr lIns="0" tIns="0" rIns="0" bIns="0" rtlCol="0" anchor="t">
            <a:spAutoFit/>
          </a:bodyPr>
          <a:lstStyle/>
          <a:p>
            <a:pPr algn="l">
              <a:lnSpc>
                <a:spcPts val="3236"/>
              </a:lnSpc>
              <a:spcBef>
                <a:spcPct val="0"/>
              </a:spcBef>
            </a:pPr>
            <a:r>
              <a:rPr lang="en-US" sz="2311" dirty="0">
                <a:solidFill>
                  <a:srgbClr val="260317"/>
                </a:solidFill>
                <a:latin typeface="Catchy Mager"/>
                <a:ea typeface="Catchy Mager"/>
                <a:cs typeface="Catchy Mager"/>
                <a:sym typeface="Catchy Mager"/>
              </a:rPr>
              <a:t>Noun and Verb Analysis</a:t>
            </a:r>
          </a:p>
        </p:txBody>
      </p:sp>
      <p:sp>
        <p:nvSpPr>
          <p:cNvPr id="39" name="TextBox 39"/>
          <p:cNvSpPr txBox="1"/>
          <p:nvPr/>
        </p:nvSpPr>
        <p:spPr>
          <a:xfrm>
            <a:off x="2453464" y="4005731"/>
            <a:ext cx="3071543" cy="2520755"/>
          </a:xfrm>
          <a:prstGeom prst="rect">
            <a:avLst/>
          </a:prstGeom>
        </p:spPr>
        <p:txBody>
          <a:bodyPr lIns="0" tIns="0" rIns="0" bIns="0" rtlCol="0" anchor="t">
            <a:spAutoFit/>
          </a:bodyPr>
          <a:lstStyle/>
          <a:p>
            <a:pPr algn="l">
              <a:lnSpc>
                <a:spcPts val="2189"/>
              </a:lnSpc>
            </a:pPr>
            <a:r>
              <a:rPr lang="en-US" sz="1645" dirty="0">
                <a:solidFill>
                  <a:srgbClr val="260317"/>
                </a:solidFill>
                <a:latin typeface="Montserrat"/>
                <a:ea typeface="Montserrat"/>
                <a:cs typeface="Montserrat"/>
                <a:sym typeface="Montserrat"/>
              </a:rPr>
              <a:t>Mock Interviews were used :</a:t>
            </a:r>
          </a:p>
          <a:p>
            <a:pPr marL="285750" indent="-285750" algn="l">
              <a:lnSpc>
                <a:spcPts val="2189"/>
              </a:lnSpc>
              <a:buFontTx/>
              <a:buChar char="-"/>
            </a:pPr>
            <a:r>
              <a:rPr lang="en-US" sz="1645" dirty="0">
                <a:solidFill>
                  <a:srgbClr val="260317"/>
                </a:solidFill>
                <a:latin typeface="Montserrat"/>
                <a:ea typeface="Montserrat"/>
                <a:cs typeface="Montserrat"/>
                <a:sym typeface="Montserrat"/>
              </a:rPr>
              <a:t>Tasks</a:t>
            </a:r>
          </a:p>
          <a:p>
            <a:pPr marL="285750" indent="-285750" algn="l">
              <a:lnSpc>
                <a:spcPts val="2189"/>
              </a:lnSpc>
              <a:buFontTx/>
              <a:buChar char="-"/>
            </a:pPr>
            <a:r>
              <a:rPr lang="en-US" sz="1645" dirty="0">
                <a:solidFill>
                  <a:srgbClr val="260317"/>
                </a:solidFill>
                <a:latin typeface="Montserrat"/>
                <a:ea typeface="Montserrat"/>
                <a:cs typeface="Montserrat"/>
                <a:sym typeface="Montserrat"/>
              </a:rPr>
              <a:t>Manual activities</a:t>
            </a:r>
          </a:p>
          <a:p>
            <a:pPr marL="285750" indent="-285750" algn="l">
              <a:lnSpc>
                <a:spcPts val="2189"/>
              </a:lnSpc>
              <a:buFontTx/>
              <a:buChar char="-"/>
            </a:pPr>
            <a:r>
              <a:rPr lang="en-US" sz="1645" dirty="0">
                <a:solidFill>
                  <a:srgbClr val="260317"/>
                </a:solidFill>
                <a:latin typeface="Montserrat"/>
                <a:ea typeface="Montserrat"/>
                <a:cs typeface="Montserrat"/>
                <a:sym typeface="Montserrat"/>
              </a:rPr>
              <a:t>Update responsibilities</a:t>
            </a:r>
          </a:p>
          <a:p>
            <a:pPr marL="285750" indent="-285750" algn="l">
              <a:lnSpc>
                <a:spcPts val="2189"/>
              </a:lnSpc>
              <a:buFontTx/>
              <a:buChar char="-"/>
            </a:pPr>
            <a:r>
              <a:rPr lang="en-US" sz="1645" dirty="0">
                <a:solidFill>
                  <a:srgbClr val="260317"/>
                </a:solidFill>
                <a:latin typeface="Montserrat"/>
                <a:ea typeface="Montserrat"/>
                <a:cs typeface="Montserrat"/>
                <a:sym typeface="Montserrat"/>
              </a:rPr>
              <a:t>Data flow</a:t>
            </a:r>
          </a:p>
          <a:p>
            <a:pPr marL="285750" indent="-285750" algn="l">
              <a:lnSpc>
                <a:spcPts val="2189"/>
              </a:lnSpc>
              <a:buFontTx/>
              <a:buChar char="-"/>
            </a:pPr>
            <a:r>
              <a:rPr lang="en-US" sz="1645" dirty="0">
                <a:solidFill>
                  <a:srgbClr val="260317"/>
                </a:solidFill>
                <a:latin typeface="Montserrat"/>
                <a:ea typeface="Montserrat"/>
                <a:cs typeface="Montserrat"/>
                <a:sym typeface="Montserrat"/>
              </a:rPr>
              <a:t>Access needs</a:t>
            </a:r>
          </a:p>
          <a:p>
            <a:pPr marL="285750" indent="-285750" algn="l">
              <a:lnSpc>
                <a:spcPts val="2189"/>
              </a:lnSpc>
              <a:buFontTx/>
              <a:buChar char="-"/>
            </a:pPr>
            <a:r>
              <a:rPr lang="en-US" sz="1645" dirty="0">
                <a:solidFill>
                  <a:srgbClr val="260317"/>
                </a:solidFill>
                <a:latin typeface="Montserrat"/>
                <a:ea typeface="Montserrat"/>
                <a:cs typeface="Montserrat"/>
                <a:sym typeface="Montserrat"/>
              </a:rPr>
              <a:t>Performance expectations</a:t>
            </a:r>
          </a:p>
          <a:p>
            <a:pPr algn="l">
              <a:lnSpc>
                <a:spcPts val="2189"/>
              </a:lnSpc>
            </a:pPr>
            <a:endParaRPr lang="en-US" sz="1645" dirty="0">
              <a:solidFill>
                <a:srgbClr val="260317"/>
              </a:solidFill>
              <a:latin typeface="Montserrat"/>
              <a:ea typeface="Montserrat"/>
              <a:cs typeface="Montserrat"/>
              <a:sym typeface="Montserrat"/>
            </a:endParaRPr>
          </a:p>
          <a:p>
            <a:pPr algn="l">
              <a:lnSpc>
                <a:spcPts val="2189"/>
              </a:lnSpc>
            </a:pPr>
            <a:r>
              <a:rPr lang="en-US" sz="1645" dirty="0">
                <a:solidFill>
                  <a:srgbClr val="260317"/>
                </a:solidFill>
                <a:latin typeface="Montserrat"/>
                <a:ea typeface="Montserrat"/>
                <a:cs typeface="Montserrat"/>
                <a:sym typeface="Montserrat"/>
              </a:rPr>
              <a:t>Noun/Verb analysis was used</a:t>
            </a:r>
          </a:p>
        </p:txBody>
      </p:sp>
      <p:sp>
        <p:nvSpPr>
          <p:cNvPr id="41" name="TextBox 41"/>
          <p:cNvSpPr txBox="1"/>
          <p:nvPr/>
        </p:nvSpPr>
        <p:spPr>
          <a:xfrm>
            <a:off x="12939939" y="4005731"/>
            <a:ext cx="3418129" cy="4777783"/>
          </a:xfrm>
          <a:prstGeom prst="rect">
            <a:avLst/>
          </a:prstGeom>
        </p:spPr>
        <p:txBody>
          <a:bodyPr lIns="0" tIns="0" rIns="0" bIns="0" rtlCol="0" anchor="t">
            <a:spAutoFit/>
          </a:bodyPr>
          <a:lstStyle/>
          <a:p>
            <a:pPr algn="l">
              <a:lnSpc>
                <a:spcPts val="2189"/>
              </a:lnSpc>
            </a:pPr>
            <a:r>
              <a:rPr lang="en-US" sz="1645" dirty="0">
                <a:solidFill>
                  <a:srgbClr val="260317"/>
                </a:solidFill>
                <a:latin typeface="Montserrat"/>
                <a:ea typeface="Montserrat"/>
                <a:cs typeface="Montserrat"/>
                <a:sym typeface="Montserrat"/>
              </a:rPr>
              <a:t>Business goals and User requirements identifies:</a:t>
            </a:r>
          </a:p>
          <a:p>
            <a:pPr algn="l">
              <a:lnSpc>
                <a:spcPts val="2189"/>
              </a:lnSpc>
            </a:pPr>
            <a:endParaRPr lang="en-US" sz="1645" dirty="0">
              <a:solidFill>
                <a:srgbClr val="260317"/>
              </a:solidFill>
              <a:latin typeface="Montserrat"/>
              <a:ea typeface="Montserrat"/>
              <a:cs typeface="Montserrat"/>
              <a:sym typeface="Montserrat"/>
            </a:endParaRPr>
          </a:p>
          <a:p>
            <a:pPr marL="285750" indent="-285750" algn="l">
              <a:lnSpc>
                <a:spcPts val="2189"/>
              </a:lnSpc>
              <a:buFontTx/>
              <a:buChar char="-"/>
            </a:pPr>
            <a:r>
              <a:rPr lang="en-US" sz="1645" dirty="0">
                <a:solidFill>
                  <a:srgbClr val="260317"/>
                </a:solidFill>
                <a:latin typeface="Montserrat"/>
                <a:ea typeface="Montserrat"/>
                <a:cs typeface="Montserrat"/>
                <a:sym typeface="Montserrat"/>
              </a:rPr>
              <a:t>Reduce manual communication</a:t>
            </a:r>
          </a:p>
          <a:p>
            <a:pPr marL="285750" indent="-285750" algn="l">
              <a:lnSpc>
                <a:spcPts val="2189"/>
              </a:lnSpc>
              <a:buFontTx/>
              <a:buChar char="-"/>
            </a:pPr>
            <a:r>
              <a:rPr lang="en-US" sz="1645" dirty="0">
                <a:solidFill>
                  <a:srgbClr val="260317"/>
                </a:solidFill>
                <a:latin typeface="Montserrat"/>
                <a:ea typeface="Montserrat"/>
                <a:cs typeface="Montserrat"/>
                <a:sym typeface="Montserrat"/>
              </a:rPr>
              <a:t>Improve shipment visibility</a:t>
            </a:r>
          </a:p>
          <a:p>
            <a:pPr marL="285750" indent="-285750" algn="l">
              <a:lnSpc>
                <a:spcPts val="2189"/>
              </a:lnSpc>
              <a:buFontTx/>
              <a:buChar char="-"/>
            </a:pPr>
            <a:r>
              <a:rPr lang="en-US" sz="1645" dirty="0">
                <a:solidFill>
                  <a:srgbClr val="260317"/>
                </a:solidFill>
                <a:latin typeface="Montserrat"/>
                <a:ea typeface="Montserrat"/>
                <a:cs typeface="Montserrat"/>
                <a:sym typeface="Montserrat"/>
              </a:rPr>
              <a:t>Support tracking and status update</a:t>
            </a:r>
          </a:p>
          <a:p>
            <a:pPr marL="285750" indent="-285750" algn="l">
              <a:lnSpc>
                <a:spcPts val="2189"/>
              </a:lnSpc>
              <a:buFontTx/>
              <a:buChar char="-"/>
            </a:pPr>
            <a:r>
              <a:rPr lang="en-US" sz="1645" dirty="0">
                <a:solidFill>
                  <a:srgbClr val="260317"/>
                </a:solidFill>
                <a:latin typeface="Montserrat"/>
                <a:ea typeface="Montserrat"/>
                <a:cs typeface="Montserrat"/>
                <a:sym typeface="Montserrat"/>
              </a:rPr>
              <a:t>Support management teams</a:t>
            </a:r>
          </a:p>
          <a:p>
            <a:pPr marL="285750" indent="-285750" algn="l">
              <a:lnSpc>
                <a:spcPts val="2189"/>
              </a:lnSpc>
              <a:buFontTx/>
              <a:buChar char="-"/>
            </a:pPr>
            <a:r>
              <a:rPr lang="en-US" sz="1645" dirty="0">
                <a:solidFill>
                  <a:srgbClr val="260317"/>
                </a:solidFill>
                <a:latin typeface="Montserrat"/>
                <a:ea typeface="Montserrat"/>
                <a:cs typeface="Montserrat"/>
                <a:sym typeface="Montserrat"/>
              </a:rPr>
              <a:t>Customer should be able to track their shipment progress</a:t>
            </a:r>
          </a:p>
          <a:p>
            <a:pPr marL="285750" indent="-285750" algn="l">
              <a:lnSpc>
                <a:spcPts val="2189"/>
              </a:lnSpc>
              <a:buFontTx/>
              <a:buChar char="-"/>
            </a:pPr>
            <a:r>
              <a:rPr lang="en-US" sz="1645" dirty="0">
                <a:solidFill>
                  <a:srgbClr val="260317"/>
                </a:solidFill>
                <a:latin typeface="Montserrat"/>
                <a:ea typeface="Montserrat"/>
                <a:cs typeface="Montserrat"/>
                <a:sym typeface="Montserrat"/>
              </a:rPr>
              <a:t>Dispatch managers should be able to assign routes an view the </a:t>
            </a:r>
          </a:p>
          <a:p>
            <a:pPr marL="285750" indent="-285750" algn="l">
              <a:lnSpc>
                <a:spcPts val="2189"/>
              </a:lnSpc>
              <a:buFontTx/>
              <a:buChar char="-"/>
            </a:pPr>
            <a:r>
              <a:rPr lang="en-US" sz="1645" dirty="0">
                <a:solidFill>
                  <a:srgbClr val="260317"/>
                </a:solidFill>
                <a:latin typeface="Montserrat"/>
                <a:ea typeface="Montserrat"/>
                <a:cs typeface="Montserrat"/>
                <a:sym typeface="Montserrat"/>
              </a:rPr>
              <a:t>It admins should manage the access and system performance to name a few</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51576" t="-3683" r="-850" b="-48743"/>
            </a:stretch>
          </a:blipFill>
        </p:spPr>
        <p:txBody>
          <a:bodyPr/>
          <a:lstStyle/>
          <a:p>
            <a:endParaRPr lang="en-NZ" dirty="0"/>
          </a:p>
        </p:txBody>
      </p:sp>
      <p:grpSp>
        <p:nvGrpSpPr>
          <p:cNvPr id="3" name="Group 3"/>
          <p:cNvGrpSpPr/>
          <p:nvPr/>
        </p:nvGrpSpPr>
        <p:grpSpPr>
          <a:xfrm>
            <a:off x="825571" y="648590"/>
            <a:ext cx="16636859" cy="8989819"/>
            <a:chOff x="0" y="0"/>
            <a:chExt cx="4381724" cy="2367689"/>
          </a:xfrm>
        </p:grpSpPr>
        <p:sp>
          <p:nvSpPr>
            <p:cNvPr id="4" name="Freeform 4"/>
            <p:cNvSpPr/>
            <p:nvPr/>
          </p:nvSpPr>
          <p:spPr>
            <a:xfrm>
              <a:off x="0" y="0"/>
              <a:ext cx="4381724" cy="2367689"/>
            </a:xfrm>
            <a:custGeom>
              <a:avLst/>
              <a:gdLst/>
              <a:ahLst/>
              <a:cxnLst/>
              <a:rect l="l" t="t" r="r" b="b"/>
              <a:pathLst>
                <a:path w="4381724" h="2367689">
                  <a:moveTo>
                    <a:pt x="0" y="0"/>
                  </a:moveTo>
                  <a:lnTo>
                    <a:pt x="4381724" y="0"/>
                  </a:lnTo>
                  <a:lnTo>
                    <a:pt x="4381724" y="2367689"/>
                  </a:lnTo>
                  <a:lnTo>
                    <a:pt x="0" y="2367689"/>
                  </a:lnTo>
                  <a:close/>
                </a:path>
              </a:pathLst>
            </a:custGeom>
            <a:ln w="38100" cap="sq">
              <a:solidFill>
                <a:srgbClr val="F3F0F1"/>
              </a:solidFill>
              <a:prstDash val="solid"/>
              <a:miter/>
            </a:ln>
          </p:spPr>
          <p:txBody>
            <a:bodyPr/>
            <a:lstStyle/>
            <a:p>
              <a:endParaRPr lang="en-NZ" dirty="0"/>
            </a:p>
          </p:txBody>
        </p:sp>
        <p:sp>
          <p:nvSpPr>
            <p:cNvPr id="5" name="TextBox 5"/>
            <p:cNvSpPr txBox="1"/>
            <p:nvPr/>
          </p:nvSpPr>
          <p:spPr>
            <a:xfrm>
              <a:off x="0" y="38100"/>
              <a:ext cx="4381724" cy="2329589"/>
            </a:xfrm>
            <a:prstGeom prst="rect">
              <a:avLst/>
            </a:prstGeom>
          </p:spPr>
          <p:txBody>
            <a:bodyPr lIns="50800" tIns="50800" rIns="50800" bIns="50800" rtlCol="0" anchor="ctr"/>
            <a:lstStyle/>
            <a:p>
              <a:pPr algn="ctr">
                <a:lnSpc>
                  <a:spcPts val="2356"/>
                </a:lnSpc>
              </a:pPr>
              <a:endParaRPr dirty="0"/>
            </a:p>
          </p:txBody>
        </p:sp>
      </p:grpSp>
      <p:sp>
        <p:nvSpPr>
          <p:cNvPr id="6" name="TextBox 6"/>
          <p:cNvSpPr txBox="1"/>
          <p:nvPr/>
        </p:nvSpPr>
        <p:spPr>
          <a:xfrm>
            <a:off x="1100731" y="924665"/>
            <a:ext cx="16086538" cy="941723"/>
          </a:xfrm>
          <a:prstGeom prst="rect">
            <a:avLst/>
          </a:prstGeom>
        </p:spPr>
        <p:txBody>
          <a:bodyPr lIns="0" tIns="0" rIns="0" bIns="0" rtlCol="0" anchor="t">
            <a:spAutoFit/>
          </a:bodyPr>
          <a:lstStyle/>
          <a:p>
            <a:pPr algn="ctr">
              <a:lnSpc>
                <a:spcPts val="7232"/>
              </a:lnSpc>
            </a:pPr>
            <a:r>
              <a:rPr lang="en-US" sz="6027" spc="669" dirty="0">
                <a:solidFill>
                  <a:srgbClr val="260317"/>
                </a:solidFill>
                <a:latin typeface="Catchy Mager"/>
                <a:ea typeface="Catchy Mager"/>
                <a:cs typeface="Catchy Mager"/>
                <a:sym typeface="Catchy Mager"/>
              </a:rPr>
              <a:t>Use Case Diagram</a:t>
            </a:r>
          </a:p>
        </p:txBody>
      </p:sp>
      <p:pic>
        <p:nvPicPr>
          <p:cNvPr id="35" name="Picture 34">
            <a:extLst>
              <a:ext uri="{FF2B5EF4-FFF2-40B4-BE49-F238E27FC236}">
                <a16:creationId xmlns:a16="http://schemas.microsoft.com/office/drawing/2014/main" id="{9B33F4DE-1813-2602-1827-0F3E60D047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30576" y="2178486"/>
            <a:ext cx="11134725" cy="59150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0F1"/>
        </a:solidFill>
        <a:effectLst/>
      </p:bgPr>
    </p:bg>
    <p:spTree>
      <p:nvGrpSpPr>
        <p:cNvPr id="1" name=""/>
        <p:cNvGrpSpPr/>
        <p:nvPr/>
      </p:nvGrpSpPr>
      <p:grpSpPr>
        <a:xfrm>
          <a:off x="0" y="0"/>
          <a:ext cx="0" cy="0"/>
          <a:chOff x="0" y="0"/>
          <a:chExt cx="0" cy="0"/>
        </a:xfrm>
      </p:grpSpPr>
      <p:grpSp>
        <p:nvGrpSpPr>
          <p:cNvPr id="2" name="Group 2"/>
          <p:cNvGrpSpPr/>
          <p:nvPr/>
        </p:nvGrpSpPr>
        <p:grpSpPr>
          <a:xfrm>
            <a:off x="825571" y="648590"/>
            <a:ext cx="16636859" cy="8989819"/>
            <a:chOff x="0" y="0"/>
            <a:chExt cx="4381724" cy="2367689"/>
          </a:xfrm>
        </p:grpSpPr>
        <p:sp>
          <p:nvSpPr>
            <p:cNvPr id="3" name="Freeform 3"/>
            <p:cNvSpPr/>
            <p:nvPr/>
          </p:nvSpPr>
          <p:spPr>
            <a:xfrm>
              <a:off x="0" y="0"/>
              <a:ext cx="4381724" cy="2367689"/>
            </a:xfrm>
            <a:custGeom>
              <a:avLst/>
              <a:gdLst/>
              <a:ahLst/>
              <a:cxnLst/>
              <a:rect l="l" t="t" r="r" b="b"/>
              <a:pathLst>
                <a:path w="4381724" h="2367689">
                  <a:moveTo>
                    <a:pt x="0" y="0"/>
                  </a:moveTo>
                  <a:lnTo>
                    <a:pt x="4381724" y="0"/>
                  </a:lnTo>
                  <a:lnTo>
                    <a:pt x="4381724" y="2367689"/>
                  </a:lnTo>
                  <a:lnTo>
                    <a:pt x="0" y="2367689"/>
                  </a:lnTo>
                  <a:close/>
                </a:path>
              </a:pathLst>
            </a:custGeom>
            <a:ln w="9525" cap="sq">
              <a:solidFill>
                <a:srgbClr val="260317"/>
              </a:solidFill>
              <a:prstDash val="solid"/>
              <a:miter/>
            </a:ln>
          </p:spPr>
          <p:txBody>
            <a:bodyPr/>
            <a:lstStyle/>
            <a:p>
              <a:endParaRPr lang="en-NZ" dirty="0"/>
            </a:p>
          </p:txBody>
        </p:sp>
        <p:sp>
          <p:nvSpPr>
            <p:cNvPr id="4" name="TextBox 4"/>
            <p:cNvSpPr txBox="1"/>
            <p:nvPr/>
          </p:nvSpPr>
          <p:spPr>
            <a:xfrm>
              <a:off x="0" y="38100"/>
              <a:ext cx="4381724" cy="2329589"/>
            </a:xfrm>
            <a:prstGeom prst="rect">
              <a:avLst/>
            </a:prstGeom>
          </p:spPr>
          <p:txBody>
            <a:bodyPr lIns="50800" tIns="50800" rIns="50800" bIns="50800" rtlCol="0" anchor="ctr"/>
            <a:lstStyle/>
            <a:p>
              <a:pPr algn="ctr">
                <a:lnSpc>
                  <a:spcPts val="2356"/>
                </a:lnSpc>
              </a:pPr>
              <a:endParaRPr dirty="0"/>
            </a:p>
          </p:txBody>
        </p:sp>
      </p:grpSp>
      <p:sp>
        <p:nvSpPr>
          <p:cNvPr id="33" name="Freeform 33"/>
          <p:cNvSpPr/>
          <p:nvPr/>
        </p:nvSpPr>
        <p:spPr>
          <a:xfrm>
            <a:off x="8644480" y="4607784"/>
            <a:ext cx="711862" cy="740121"/>
          </a:xfrm>
          <a:custGeom>
            <a:avLst/>
            <a:gdLst/>
            <a:ahLst/>
            <a:cxnLst/>
            <a:rect l="l" t="t" r="r" b="b"/>
            <a:pathLst>
              <a:path w="711862" h="740121">
                <a:moveTo>
                  <a:pt x="0" y="0"/>
                </a:moveTo>
                <a:lnTo>
                  <a:pt x="711862" y="0"/>
                </a:lnTo>
                <a:lnTo>
                  <a:pt x="711862" y="740122"/>
                </a:lnTo>
                <a:lnTo>
                  <a:pt x="0" y="74012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NZ" dirty="0"/>
          </a:p>
        </p:txBody>
      </p:sp>
      <p:sp>
        <p:nvSpPr>
          <p:cNvPr id="34" name="Freeform 34"/>
          <p:cNvSpPr/>
          <p:nvPr/>
        </p:nvSpPr>
        <p:spPr>
          <a:xfrm>
            <a:off x="2173517" y="4718798"/>
            <a:ext cx="848235" cy="689384"/>
          </a:xfrm>
          <a:custGeom>
            <a:avLst/>
            <a:gdLst/>
            <a:ahLst/>
            <a:cxnLst/>
            <a:rect l="l" t="t" r="r" b="b"/>
            <a:pathLst>
              <a:path w="848235" h="689384">
                <a:moveTo>
                  <a:pt x="0" y="0"/>
                </a:moveTo>
                <a:lnTo>
                  <a:pt x="848235" y="0"/>
                </a:lnTo>
                <a:lnTo>
                  <a:pt x="848235" y="689384"/>
                </a:lnTo>
                <a:lnTo>
                  <a:pt x="0" y="68938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NZ" dirty="0"/>
          </a:p>
        </p:txBody>
      </p:sp>
      <p:sp>
        <p:nvSpPr>
          <p:cNvPr id="59" name="TextBox 59"/>
          <p:cNvSpPr txBox="1"/>
          <p:nvPr/>
        </p:nvSpPr>
        <p:spPr>
          <a:xfrm>
            <a:off x="2597634" y="1397307"/>
            <a:ext cx="12947545" cy="1104889"/>
          </a:xfrm>
          <a:prstGeom prst="rect">
            <a:avLst/>
          </a:prstGeom>
        </p:spPr>
        <p:txBody>
          <a:bodyPr lIns="0" tIns="0" rIns="0" bIns="0" rtlCol="0" anchor="t">
            <a:spAutoFit/>
          </a:bodyPr>
          <a:lstStyle/>
          <a:p>
            <a:pPr algn="ctr">
              <a:lnSpc>
                <a:spcPts val="8286"/>
              </a:lnSpc>
            </a:pPr>
            <a:r>
              <a:rPr lang="en-US" sz="7968" spc="884" dirty="0">
                <a:solidFill>
                  <a:srgbClr val="260317"/>
                </a:solidFill>
                <a:latin typeface="Catchy Mager"/>
                <a:ea typeface="Catchy Mager"/>
                <a:cs typeface="Catchy Mager"/>
                <a:sym typeface="Catchy Mager"/>
              </a:rPr>
              <a:t>Class Diagram</a:t>
            </a:r>
          </a:p>
        </p:txBody>
      </p:sp>
      <p:pic>
        <p:nvPicPr>
          <p:cNvPr id="65" name="Picture 64">
            <a:extLst>
              <a:ext uri="{FF2B5EF4-FFF2-40B4-BE49-F238E27FC236}">
                <a16:creationId xmlns:a16="http://schemas.microsoft.com/office/drawing/2014/main" id="{C453927E-1AA4-420B-4BB2-FCD3BA2293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57576" y="3106251"/>
            <a:ext cx="13273529" cy="612415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22608"/>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51576" t="-3683" r="-850" b="-48743"/>
            </a:stretch>
          </a:blipFill>
        </p:spPr>
        <p:txBody>
          <a:bodyPr/>
          <a:lstStyle/>
          <a:p>
            <a:pPr algn="ctr"/>
            <a:endParaRPr lang="en-NZ" dirty="0"/>
          </a:p>
        </p:txBody>
      </p:sp>
      <p:grpSp>
        <p:nvGrpSpPr>
          <p:cNvPr id="3" name="Group 3"/>
          <p:cNvGrpSpPr/>
          <p:nvPr/>
        </p:nvGrpSpPr>
        <p:grpSpPr>
          <a:xfrm>
            <a:off x="825571" y="648590"/>
            <a:ext cx="16636859" cy="8989819"/>
            <a:chOff x="0" y="0"/>
            <a:chExt cx="4381724" cy="2367689"/>
          </a:xfrm>
        </p:grpSpPr>
        <p:sp>
          <p:nvSpPr>
            <p:cNvPr id="4" name="Freeform 4"/>
            <p:cNvSpPr/>
            <p:nvPr/>
          </p:nvSpPr>
          <p:spPr>
            <a:xfrm>
              <a:off x="0" y="0"/>
              <a:ext cx="4381724" cy="2367689"/>
            </a:xfrm>
            <a:custGeom>
              <a:avLst/>
              <a:gdLst/>
              <a:ahLst/>
              <a:cxnLst/>
              <a:rect l="l" t="t" r="r" b="b"/>
              <a:pathLst>
                <a:path w="4381724" h="2367689">
                  <a:moveTo>
                    <a:pt x="0" y="0"/>
                  </a:moveTo>
                  <a:lnTo>
                    <a:pt x="4381724" y="0"/>
                  </a:lnTo>
                  <a:lnTo>
                    <a:pt x="4381724" y="2367689"/>
                  </a:lnTo>
                  <a:lnTo>
                    <a:pt x="0" y="2367689"/>
                  </a:lnTo>
                  <a:close/>
                </a:path>
              </a:pathLst>
            </a:custGeom>
            <a:ln w="38100" cap="sq">
              <a:solidFill>
                <a:srgbClr val="FFFFFF"/>
              </a:solidFill>
              <a:prstDash val="solid"/>
              <a:miter/>
            </a:ln>
          </p:spPr>
          <p:txBody>
            <a:bodyPr/>
            <a:lstStyle/>
            <a:p>
              <a:endParaRPr lang="en-NZ" dirty="0"/>
            </a:p>
          </p:txBody>
        </p:sp>
        <p:sp>
          <p:nvSpPr>
            <p:cNvPr id="5" name="TextBox 5"/>
            <p:cNvSpPr txBox="1"/>
            <p:nvPr/>
          </p:nvSpPr>
          <p:spPr>
            <a:xfrm>
              <a:off x="0" y="38100"/>
              <a:ext cx="4381724" cy="2329589"/>
            </a:xfrm>
            <a:prstGeom prst="rect">
              <a:avLst/>
            </a:prstGeom>
          </p:spPr>
          <p:txBody>
            <a:bodyPr lIns="50800" tIns="50800" rIns="50800" bIns="50800" rtlCol="0" anchor="ctr"/>
            <a:lstStyle/>
            <a:p>
              <a:pPr algn="ctr">
                <a:lnSpc>
                  <a:spcPts val="2356"/>
                </a:lnSpc>
              </a:pPr>
              <a:endParaRPr dirty="0"/>
            </a:p>
          </p:txBody>
        </p:sp>
      </p:grpSp>
      <p:sp>
        <p:nvSpPr>
          <p:cNvPr id="7" name="TextBox 7"/>
          <p:cNvSpPr txBox="1"/>
          <p:nvPr/>
        </p:nvSpPr>
        <p:spPr>
          <a:xfrm>
            <a:off x="2036216" y="2089467"/>
            <a:ext cx="14440086" cy="880251"/>
          </a:xfrm>
          <a:prstGeom prst="rect">
            <a:avLst/>
          </a:prstGeom>
        </p:spPr>
        <p:txBody>
          <a:bodyPr lIns="0" tIns="0" rIns="0" bIns="0" rtlCol="0" anchor="t">
            <a:spAutoFit/>
          </a:bodyPr>
          <a:lstStyle/>
          <a:p>
            <a:pPr algn="ctr">
              <a:lnSpc>
                <a:spcPts val="6424"/>
              </a:lnSpc>
            </a:pPr>
            <a:r>
              <a:rPr lang="en-US" sz="6692" spc="742" dirty="0">
                <a:solidFill>
                  <a:srgbClr val="260317"/>
                </a:solidFill>
                <a:latin typeface="Catchy Mager"/>
                <a:ea typeface="Catchy Mager"/>
                <a:cs typeface="Catchy Mager"/>
                <a:sym typeface="Catchy Mager"/>
              </a:rPr>
              <a:t>Implemented Prototype</a:t>
            </a:r>
          </a:p>
        </p:txBody>
      </p:sp>
      <p:sp>
        <p:nvSpPr>
          <p:cNvPr id="8" name="TextBox 39">
            <a:extLst>
              <a:ext uri="{FF2B5EF4-FFF2-40B4-BE49-F238E27FC236}">
                <a16:creationId xmlns:a16="http://schemas.microsoft.com/office/drawing/2014/main" id="{9DE1FDED-5E33-B903-A9E5-EE61D664171D}"/>
              </a:ext>
            </a:extLst>
          </p:cNvPr>
          <p:cNvSpPr txBox="1"/>
          <p:nvPr/>
        </p:nvSpPr>
        <p:spPr>
          <a:xfrm>
            <a:off x="1066800" y="3883121"/>
            <a:ext cx="3071543" cy="2520755"/>
          </a:xfrm>
          <a:prstGeom prst="rect">
            <a:avLst/>
          </a:prstGeom>
        </p:spPr>
        <p:txBody>
          <a:bodyPr lIns="0" tIns="0" rIns="0" bIns="0" rtlCol="0" anchor="t">
            <a:spAutoFit/>
          </a:bodyPr>
          <a:lstStyle/>
          <a:p>
            <a:pPr algn="l">
              <a:lnSpc>
                <a:spcPts val="2189"/>
              </a:lnSpc>
            </a:pPr>
            <a:r>
              <a:rPr lang="en-US" sz="1645" dirty="0">
                <a:solidFill>
                  <a:srgbClr val="260317"/>
                </a:solidFill>
                <a:latin typeface="Montserrat"/>
                <a:ea typeface="Montserrat"/>
                <a:cs typeface="Montserrat"/>
                <a:sym typeface="Montserrat"/>
              </a:rPr>
              <a:t>Classes implemented</a:t>
            </a:r>
          </a:p>
          <a:p>
            <a:pPr algn="l">
              <a:lnSpc>
                <a:spcPts val="2189"/>
              </a:lnSpc>
            </a:pPr>
            <a:endParaRPr lang="en-US" sz="1645" dirty="0">
              <a:solidFill>
                <a:srgbClr val="260317"/>
              </a:solidFill>
              <a:latin typeface="Montserrat"/>
              <a:ea typeface="Montserrat"/>
              <a:cs typeface="Montserrat"/>
              <a:sym typeface="Montserrat"/>
            </a:endParaRPr>
          </a:p>
          <a:p>
            <a:pPr marL="285750" indent="-285750" algn="l">
              <a:lnSpc>
                <a:spcPts val="2189"/>
              </a:lnSpc>
              <a:buFontTx/>
              <a:buChar char="-"/>
            </a:pPr>
            <a:r>
              <a:rPr lang="en-US" sz="1645" dirty="0">
                <a:solidFill>
                  <a:srgbClr val="260317"/>
                </a:solidFill>
                <a:latin typeface="Montserrat"/>
                <a:ea typeface="Montserrat"/>
                <a:cs typeface="Montserrat"/>
                <a:sym typeface="Montserrat"/>
              </a:rPr>
              <a:t>User</a:t>
            </a:r>
          </a:p>
          <a:p>
            <a:pPr marL="285750" indent="-285750" algn="l">
              <a:lnSpc>
                <a:spcPts val="2189"/>
              </a:lnSpc>
              <a:buFontTx/>
              <a:buChar char="-"/>
            </a:pPr>
            <a:r>
              <a:rPr lang="en-US" sz="1645" dirty="0">
                <a:solidFill>
                  <a:srgbClr val="260317"/>
                </a:solidFill>
                <a:latin typeface="Montserrat"/>
                <a:ea typeface="Montserrat"/>
                <a:cs typeface="Montserrat"/>
                <a:sym typeface="Montserrat"/>
              </a:rPr>
              <a:t>Customer</a:t>
            </a:r>
          </a:p>
          <a:p>
            <a:pPr marL="285750" indent="-285750" algn="l">
              <a:lnSpc>
                <a:spcPts val="2189"/>
              </a:lnSpc>
              <a:buFontTx/>
              <a:buChar char="-"/>
            </a:pPr>
            <a:r>
              <a:rPr lang="en-US" sz="1645" dirty="0">
                <a:solidFill>
                  <a:srgbClr val="260317"/>
                </a:solidFill>
                <a:latin typeface="Montserrat"/>
                <a:ea typeface="Montserrat"/>
                <a:cs typeface="Montserrat"/>
                <a:sym typeface="Montserrat"/>
              </a:rPr>
              <a:t>Staff</a:t>
            </a:r>
          </a:p>
          <a:p>
            <a:pPr marL="285750" indent="-285750" algn="l">
              <a:lnSpc>
                <a:spcPts val="2189"/>
              </a:lnSpc>
              <a:buFontTx/>
              <a:buChar char="-"/>
            </a:pPr>
            <a:r>
              <a:rPr lang="en-US" sz="1645" dirty="0">
                <a:solidFill>
                  <a:srgbClr val="260317"/>
                </a:solidFill>
                <a:latin typeface="Montserrat"/>
                <a:ea typeface="Montserrat"/>
                <a:cs typeface="Montserrat"/>
                <a:sym typeface="Montserrat"/>
              </a:rPr>
              <a:t>Shipment</a:t>
            </a:r>
          </a:p>
          <a:p>
            <a:pPr marL="285750" indent="-285750" algn="l">
              <a:lnSpc>
                <a:spcPts val="2189"/>
              </a:lnSpc>
              <a:buFontTx/>
              <a:buChar char="-"/>
            </a:pPr>
            <a:r>
              <a:rPr lang="en-US" sz="1645" dirty="0">
                <a:solidFill>
                  <a:srgbClr val="260317"/>
                </a:solidFill>
                <a:latin typeface="Montserrat"/>
                <a:ea typeface="Montserrat"/>
                <a:cs typeface="Montserrat"/>
                <a:sym typeface="Montserrat"/>
              </a:rPr>
              <a:t>Tracking Update</a:t>
            </a:r>
          </a:p>
          <a:p>
            <a:pPr marL="285750" indent="-285750" algn="l">
              <a:lnSpc>
                <a:spcPts val="2189"/>
              </a:lnSpc>
              <a:buFontTx/>
              <a:buChar char="-"/>
            </a:pPr>
            <a:r>
              <a:rPr lang="en-US" sz="1645" dirty="0">
                <a:solidFill>
                  <a:srgbClr val="260317"/>
                </a:solidFill>
                <a:latin typeface="Montserrat"/>
                <a:ea typeface="Montserrat"/>
                <a:cs typeface="Montserrat"/>
                <a:sym typeface="Montserrat"/>
              </a:rPr>
              <a:t>UserAccount(partial</a:t>
            </a:r>
          </a:p>
          <a:p>
            <a:pPr marL="285750" indent="-285750" algn="l">
              <a:lnSpc>
                <a:spcPts val="2189"/>
              </a:lnSpc>
              <a:buFontTx/>
              <a:buChar char="-"/>
            </a:pPr>
            <a:r>
              <a:rPr lang="en-US" sz="1645" dirty="0">
                <a:solidFill>
                  <a:srgbClr val="260317"/>
                </a:solidFill>
                <a:latin typeface="Montserrat"/>
                <a:ea typeface="Montserrat"/>
                <a:cs typeface="Montserrat"/>
                <a:sym typeface="Montserrat"/>
              </a:rPr>
              <a:t>Program(CUI controller)</a:t>
            </a:r>
          </a:p>
        </p:txBody>
      </p:sp>
      <p:sp>
        <p:nvSpPr>
          <p:cNvPr id="9" name="TextBox 39">
            <a:extLst>
              <a:ext uri="{FF2B5EF4-FFF2-40B4-BE49-F238E27FC236}">
                <a16:creationId xmlns:a16="http://schemas.microsoft.com/office/drawing/2014/main" id="{174AC1EF-6027-E15A-6577-3C0D253D10C8}"/>
              </a:ext>
            </a:extLst>
          </p:cNvPr>
          <p:cNvSpPr txBox="1"/>
          <p:nvPr/>
        </p:nvSpPr>
        <p:spPr>
          <a:xfrm>
            <a:off x="11811000" y="3848100"/>
            <a:ext cx="5128943" cy="1956498"/>
          </a:xfrm>
          <a:prstGeom prst="rect">
            <a:avLst/>
          </a:prstGeom>
        </p:spPr>
        <p:txBody>
          <a:bodyPr wrap="square" lIns="0" tIns="0" rIns="0" bIns="0" rtlCol="0" anchor="t">
            <a:spAutoFit/>
          </a:bodyPr>
          <a:lstStyle/>
          <a:p>
            <a:pPr algn="l">
              <a:lnSpc>
                <a:spcPts val="2189"/>
              </a:lnSpc>
            </a:pPr>
            <a:r>
              <a:rPr lang="en-US" sz="1645" dirty="0">
                <a:solidFill>
                  <a:srgbClr val="260317"/>
                </a:solidFill>
                <a:latin typeface="Montserrat"/>
                <a:ea typeface="Montserrat"/>
                <a:cs typeface="Montserrat"/>
                <a:sym typeface="Montserrat"/>
              </a:rPr>
              <a:t>Features of the partial implemented program</a:t>
            </a:r>
          </a:p>
          <a:p>
            <a:pPr algn="l">
              <a:lnSpc>
                <a:spcPts val="2189"/>
              </a:lnSpc>
            </a:pPr>
            <a:endParaRPr lang="en-US" sz="1645" dirty="0">
              <a:solidFill>
                <a:srgbClr val="260317"/>
              </a:solidFill>
              <a:latin typeface="Montserrat"/>
              <a:ea typeface="Montserrat"/>
              <a:cs typeface="Montserrat"/>
              <a:sym typeface="Montserrat"/>
            </a:endParaRPr>
          </a:p>
          <a:p>
            <a:pPr marL="285750" indent="-285750" algn="l">
              <a:lnSpc>
                <a:spcPts val="2189"/>
              </a:lnSpc>
              <a:buFontTx/>
              <a:buChar char="-"/>
            </a:pPr>
            <a:r>
              <a:rPr lang="en-US" sz="1645" dirty="0">
                <a:solidFill>
                  <a:srgbClr val="260317"/>
                </a:solidFill>
                <a:latin typeface="Montserrat"/>
                <a:ea typeface="Montserrat"/>
                <a:cs typeface="Montserrat"/>
                <a:sym typeface="Montserrat"/>
              </a:rPr>
              <a:t>View and update the customer details</a:t>
            </a:r>
          </a:p>
          <a:p>
            <a:pPr marL="285750" indent="-285750" algn="l">
              <a:lnSpc>
                <a:spcPts val="2189"/>
              </a:lnSpc>
              <a:buFontTx/>
              <a:buChar char="-"/>
            </a:pPr>
            <a:r>
              <a:rPr lang="en-US" sz="1645" dirty="0">
                <a:solidFill>
                  <a:srgbClr val="260317"/>
                </a:solidFill>
                <a:latin typeface="Montserrat"/>
                <a:ea typeface="Montserrat"/>
                <a:cs typeface="Montserrat"/>
                <a:sym typeface="Montserrat"/>
              </a:rPr>
              <a:t>Track assigned shipments</a:t>
            </a:r>
          </a:p>
          <a:p>
            <a:pPr marL="285750" indent="-285750" algn="l">
              <a:lnSpc>
                <a:spcPts val="2189"/>
              </a:lnSpc>
              <a:buFontTx/>
              <a:buChar char="-"/>
            </a:pPr>
            <a:r>
              <a:rPr lang="en-US" sz="1645" dirty="0">
                <a:solidFill>
                  <a:srgbClr val="260317"/>
                </a:solidFill>
                <a:latin typeface="Montserrat"/>
                <a:ea typeface="Montserrat"/>
                <a:cs typeface="Montserrat"/>
                <a:sym typeface="Montserrat"/>
              </a:rPr>
              <a:t>View shipment information</a:t>
            </a:r>
          </a:p>
          <a:p>
            <a:pPr marL="285750" indent="-285750" algn="l">
              <a:lnSpc>
                <a:spcPts val="2189"/>
              </a:lnSpc>
              <a:buFontTx/>
              <a:buChar char="-"/>
            </a:pPr>
            <a:r>
              <a:rPr lang="en-US" sz="1645" dirty="0">
                <a:solidFill>
                  <a:srgbClr val="260317"/>
                </a:solidFill>
                <a:latin typeface="Montserrat"/>
                <a:ea typeface="Montserrat"/>
                <a:cs typeface="Montserrat"/>
                <a:sym typeface="Montserrat"/>
              </a:rPr>
              <a:t>View the tracking history</a:t>
            </a:r>
          </a:p>
          <a:p>
            <a:pPr marL="285750" indent="-285750" algn="l">
              <a:lnSpc>
                <a:spcPts val="2189"/>
              </a:lnSpc>
              <a:buFontTx/>
              <a:buChar char="-"/>
            </a:pPr>
            <a:r>
              <a:rPr lang="en-US" sz="1645" dirty="0">
                <a:solidFill>
                  <a:srgbClr val="260317"/>
                </a:solidFill>
                <a:latin typeface="Montserrat"/>
                <a:ea typeface="Montserrat"/>
                <a:cs typeface="Montserrat"/>
                <a:sym typeface="Montserrat"/>
              </a:rPr>
              <a:t>Update the shipment status</a:t>
            </a:r>
          </a:p>
        </p:txBody>
      </p:sp>
      <p:pic>
        <p:nvPicPr>
          <p:cNvPr id="10" name="Picture 9">
            <a:extLst>
              <a:ext uri="{FF2B5EF4-FFF2-40B4-BE49-F238E27FC236}">
                <a16:creationId xmlns:a16="http://schemas.microsoft.com/office/drawing/2014/main" id="{1018C81D-829F-15BC-6AC4-409434EA6F2A}"/>
              </a:ext>
            </a:extLst>
          </p:cNvPr>
          <p:cNvPicPr>
            <a:picLocks noChangeAspect="1"/>
          </p:cNvPicPr>
          <p:nvPr/>
        </p:nvPicPr>
        <p:blipFill>
          <a:blip r:embed="rId3"/>
          <a:stretch>
            <a:fillRect/>
          </a:stretch>
        </p:blipFill>
        <p:spPr>
          <a:xfrm>
            <a:off x="6477001" y="3848100"/>
            <a:ext cx="4096322" cy="1771897"/>
          </a:xfrm>
          <a:prstGeom prst="rect">
            <a:avLst/>
          </a:prstGeom>
        </p:spPr>
      </p:pic>
      <p:pic>
        <p:nvPicPr>
          <p:cNvPr id="12" name="Picture 11">
            <a:extLst>
              <a:ext uri="{FF2B5EF4-FFF2-40B4-BE49-F238E27FC236}">
                <a16:creationId xmlns:a16="http://schemas.microsoft.com/office/drawing/2014/main" id="{E20F2342-C0B3-3A9B-C2F7-6EFE9A74FEF4}"/>
              </a:ext>
            </a:extLst>
          </p:cNvPr>
          <p:cNvPicPr>
            <a:picLocks noChangeAspect="1"/>
          </p:cNvPicPr>
          <p:nvPr/>
        </p:nvPicPr>
        <p:blipFill>
          <a:blip r:embed="rId4"/>
          <a:stretch>
            <a:fillRect/>
          </a:stretch>
        </p:blipFill>
        <p:spPr>
          <a:xfrm>
            <a:off x="2049864" y="6929858"/>
            <a:ext cx="4944165" cy="2305372"/>
          </a:xfrm>
          <a:prstGeom prst="rect">
            <a:avLst/>
          </a:prstGeom>
        </p:spPr>
      </p:pic>
      <p:pic>
        <p:nvPicPr>
          <p:cNvPr id="14" name="Picture 13">
            <a:extLst>
              <a:ext uri="{FF2B5EF4-FFF2-40B4-BE49-F238E27FC236}">
                <a16:creationId xmlns:a16="http://schemas.microsoft.com/office/drawing/2014/main" id="{073260F5-5BEA-2762-057B-A756B07AED2F}"/>
              </a:ext>
            </a:extLst>
          </p:cNvPr>
          <p:cNvPicPr>
            <a:picLocks noChangeAspect="1"/>
          </p:cNvPicPr>
          <p:nvPr/>
        </p:nvPicPr>
        <p:blipFill>
          <a:blip r:embed="rId5"/>
          <a:stretch>
            <a:fillRect/>
          </a:stretch>
        </p:blipFill>
        <p:spPr>
          <a:xfrm>
            <a:off x="10820400" y="7140110"/>
            <a:ext cx="4401164" cy="211484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0F1"/>
        </a:solidFill>
        <a:effectLst/>
      </p:bgPr>
    </p:bg>
    <p:spTree>
      <p:nvGrpSpPr>
        <p:cNvPr id="1" name=""/>
        <p:cNvGrpSpPr/>
        <p:nvPr/>
      </p:nvGrpSpPr>
      <p:grpSpPr>
        <a:xfrm>
          <a:off x="0" y="0"/>
          <a:ext cx="0" cy="0"/>
          <a:chOff x="0" y="0"/>
          <a:chExt cx="0" cy="0"/>
        </a:xfrm>
      </p:grpSpPr>
      <p:grpSp>
        <p:nvGrpSpPr>
          <p:cNvPr id="2" name="Group 2"/>
          <p:cNvGrpSpPr/>
          <p:nvPr/>
        </p:nvGrpSpPr>
        <p:grpSpPr>
          <a:xfrm>
            <a:off x="825571" y="648590"/>
            <a:ext cx="16636859" cy="8989819"/>
            <a:chOff x="0" y="0"/>
            <a:chExt cx="4381724" cy="2367689"/>
          </a:xfrm>
        </p:grpSpPr>
        <p:sp>
          <p:nvSpPr>
            <p:cNvPr id="3" name="Freeform 3"/>
            <p:cNvSpPr/>
            <p:nvPr/>
          </p:nvSpPr>
          <p:spPr>
            <a:xfrm>
              <a:off x="0" y="0"/>
              <a:ext cx="4381724" cy="2367689"/>
            </a:xfrm>
            <a:custGeom>
              <a:avLst/>
              <a:gdLst/>
              <a:ahLst/>
              <a:cxnLst/>
              <a:rect l="l" t="t" r="r" b="b"/>
              <a:pathLst>
                <a:path w="4381724" h="2367689">
                  <a:moveTo>
                    <a:pt x="0" y="0"/>
                  </a:moveTo>
                  <a:lnTo>
                    <a:pt x="4381724" y="0"/>
                  </a:lnTo>
                  <a:lnTo>
                    <a:pt x="4381724" y="2367689"/>
                  </a:lnTo>
                  <a:lnTo>
                    <a:pt x="0" y="2367689"/>
                  </a:lnTo>
                  <a:close/>
                </a:path>
              </a:pathLst>
            </a:custGeom>
            <a:ln w="9525" cap="sq">
              <a:solidFill>
                <a:srgbClr val="260317"/>
              </a:solidFill>
              <a:prstDash val="solid"/>
              <a:miter/>
            </a:ln>
          </p:spPr>
          <p:txBody>
            <a:bodyPr/>
            <a:lstStyle/>
            <a:p>
              <a:endParaRPr lang="en-NZ" dirty="0"/>
            </a:p>
          </p:txBody>
        </p:sp>
        <p:sp>
          <p:nvSpPr>
            <p:cNvPr id="4" name="TextBox 4"/>
            <p:cNvSpPr txBox="1"/>
            <p:nvPr/>
          </p:nvSpPr>
          <p:spPr>
            <a:xfrm>
              <a:off x="0" y="38100"/>
              <a:ext cx="4381724" cy="2329589"/>
            </a:xfrm>
            <a:prstGeom prst="rect">
              <a:avLst/>
            </a:prstGeom>
          </p:spPr>
          <p:txBody>
            <a:bodyPr lIns="50800" tIns="50800" rIns="50800" bIns="50800" rtlCol="0" anchor="ctr"/>
            <a:lstStyle/>
            <a:p>
              <a:pPr algn="ctr">
                <a:lnSpc>
                  <a:spcPts val="2356"/>
                </a:lnSpc>
              </a:pPr>
              <a:endParaRPr dirty="0"/>
            </a:p>
          </p:txBody>
        </p:sp>
      </p:grpSp>
      <p:sp>
        <p:nvSpPr>
          <p:cNvPr id="5" name="TextBox 5"/>
          <p:cNvSpPr txBox="1"/>
          <p:nvPr/>
        </p:nvSpPr>
        <p:spPr>
          <a:xfrm>
            <a:off x="9365629" y="4138382"/>
            <a:ext cx="6908424" cy="2420600"/>
          </a:xfrm>
          <a:prstGeom prst="rect">
            <a:avLst/>
          </a:prstGeom>
        </p:spPr>
        <p:txBody>
          <a:bodyPr lIns="0" tIns="0" rIns="0" bIns="0" rtlCol="0" anchor="t">
            <a:spAutoFit/>
          </a:bodyPr>
          <a:lstStyle/>
          <a:p>
            <a:pPr algn="ctr">
              <a:lnSpc>
                <a:spcPts val="3221"/>
              </a:lnSpc>
              <a:spcBef>
                <a:spcPct val="0"/>
              </a:spcBef>
            </a:pPr>
            <a:r>
              <a:rPr lang="en-US" sz="2301" spc="135" dirty="0">
                <a:solidFill>
                  <a:srgbClr val="260317"/>
                </a:solidFill>
                <a:latin typeface="Montserrat"/>
                <a:ea typeface="Montserrat"/>
                <a:cs typeface="Montserrat"/>
                <a:sym typeface="Montserrat"/>
              </a:rPr>
              <a:t>Lorem ipsum dolor sit amet, consectetur adipiscing elit, sed do eiusmod tempor incididunt ut labore et dolore magna aliqua. Ut enim ad minim veniam, quis nostrud exercitation ullamco laboris nisi ut aliquip ex ea commodo consequat.</a:t>
            </a:r>
          </a:p>
        </p:txBody>
      </p:sp>
      <p:sp>
        <p:nvSpPr>
          <p:cNvPr id="6" name="TextBox 6"/>
          <p:cNvSpPr txBox="1"/>
          <p:nvPr/>
        </p:nvSpPr>
        <p:spPr>
          <a:xfrm>
            <a:off x="3276600" y="970183"/>
            <a:ext cx="12381742" cy="1850378"/>
          </a:xfrm>
          <a:prstGeom prst="rect">
            <a:avLst/>
          </a:prstGeom>
        </p:spPr>
        <p:txBody>
          <a:bodyPr lIns="0" tIns="0" rIns="0" bIns="0" rtlCol="0" anchor="t">
            <a:spAutoFit/>
          </a:bodyPr>
          <a:lstStyle/>
          <a:p>
            <a:pPr algn="ctr">
              <a:lnSpc>
                <a:spcPts val="6974"/>
              </a:lnSpc>
            </a:pPr>
            <a:r>
              <a:rPr lang="en-US" sz="7264" spc="806" dirty="0">
                <a:solidFill>
                  <a:srgbClr val="260317"/>
                </a:solidFill>
                <a:latin typeface="Catchy Mager"/>
                <a:ea typeface="Catchy Mager"/>
                <a:cs typeface="Catchy Mager"/>
                <a:sym typeface="Catchy Mager"/>
              </a:rPr>
              <a:t>Design Decision &amp; Justifications</a:t>
            </a:r>
          </a:p>
        </p:txBody>
      </p:sp>
      <p:sp>
        <p:nvSpPr>
          <p:cNvPr id="10" name="TextBox 9">
            <a:extLst>
              <a:ext uri="{FF2B5EF4-FFF2-40B4-BE49-F238E27FC236}">
                <a16:creationId xmlns:a16="http://schemas.microsoft.com/office/drawing/2014/main" id="{2F272F63-1518-5C3E-9B96-88C00F7B40F0}"/>
              </a:ext>
            </a:extLst>
          </p:cNvPr>
          <p:cNvSpPr txBox="1"/>
          <p:nvPr/>
        </p:nvSpPr>
        <p:spPr>
          <a:xfrm>
            <a:off x="1314321" y="4299357"/>
            <a:ext cx="6908424" cy="2098651"/>
          </a:xfrm>
          <a:prstGeom prst="rect">
            <a:avLst/>
          </a:prstGeom>
          <a:noFill/>
        </p:spPr>
        <p:txBody>
          <a:bodyPr wrap="square">
            <a:spAutoFit/>
          </a:bodyPr>
          <a:lstStyle/>
          <a:p>
            <a:pPr algn="ctr">
              <a:lnSpc>
                <a:spcPts val="3221"/>
              </a:lnSpc>
              <a:spcBef>
                <a:spcPct val="0"/>
              </a:spcBef>
            </a:pPr>
            <a:r>
              <a:rPr lang="en-US" sz="1800" spc="135" dirty="0">
                <a:solidFill>
                  <a:srgbClr val="260317"/>
                </a:solidFill>
                <a:latin typeface="Montserrat"/>
                <a:ea typeface="Montserrat"/>
                <a:cs typeface="Montserrat"/>
                <a:sym typeface="Montserrat"/>
              </a:rPr>
              <a:t>Lorem ipsum dolor sit amet, consectetur adipiscing elit, sed do eiusmod tempor incididunt ut labore et dolore magna aliqua. Ut enim ad minim veniam, quis nostrud exercitation ullamco laboris nisi ut aliquip ex ea commodo consequat.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0F1"/>
        </a:solidFill>
        <a:effectLst/>
      </p:bgPr>
    </p:bg>
    <p:spTree>
      <p:nvGrpSpPr>
        <p:cNvPr id="1" name=""/>
        <p:cNvGrpSpPr/>
        <p:nvPr/>
      </p:nvGrpSpPr>
      <p:grpSpPr>
        <a:xfrm>
          <a:off x="0" y="0"/>
          <a:ext cx="0" cy="0"/>
          <a:chOff x="0" y="0"/>
          <a:chExt cx="0" cy="0"/>
        </a:xfrm>
      </p:grpSpPr>
      <p:grpSp>
        <p:nvGrpSpPr>
          <p:cNvPr id="2" name="Group 2"/>
          <p:cNvGrpSpPr/>
          <p:nvPr/>
        </p:nvGrpSpPr>
        <p:grpSpPr>
          <a:xfrm>
            <a:off x="825571" y="648590"/>
            <a:ext cx="16636859" cy="8989819"/>
            <a:chOff x="0" y="0"/>
            <a:chExt cx="4381724" cy="2367689"/>
          </a:xfrm>
        </p:grpSpPr>
        <p:sp>
          <p:nvSpPr>
            <p:cNvPr id="3" name="Freeform 3"/>
            <p:cNvSpPr/>
            <p:nvPr/>
          </p:nvSpPr>
          <p:spPr>
            <a:xfrm>
              <a:off x="0" y="0"/>
              <a:ext cx="4381724" cy="2367689"/>
            </a:xfrm>
            <a:custGeom>
              <a:avLst/>
              <a:gdLst/>
              <a:ahLst/>
              <a:cxnLst/>
              <a:rect l="l" t="t" r="r" b="b"/>
              <a:pathLst>
                <a:path w="4381724" h="2367689">
                  <a:moveTo>
                    <a:pt x="0" y="0"/>
                  </a:moveTo>
                  <a:lnTo>
                    <a:pt x="4381724" y="0"/>
                  </a:lnTo>
                  <a:lnTo>
                    <a:pt x="4381724" y="2367689"/>
                  </a:lnTo>
                  <a:lnTo>
                    <a:pt x="0" y="2367689"/>
                  </a:lnTo>
                  <a:close/>
                </a:path>
              </a:pathLst>
            </a:custGeom>
            <a:ln w="9525" cap="sq">
              <a:solidFill>
                <a:srgbClr val="260317"/>
              </a:solidFill>
              <a:prstDash val="solid"/>
              <a:miter/>
            </a:ln>
          </p:spPr>
          <p:txBody>
            <a:bodyPr/>
            <a:lstStyle/>
            <a:p>
              <a:endParaRPr lang="en-NZ" dirty="0"/>
            </a:p>
          </p:txBody>
        </p:sp>
        <p:sp>
          <p:nvSpPr>
            <p:cNvPr id="4" name="TextBox 4"/>
            <p:cNvSpPr txBox="1"/>
            <p:nvPr/>
          </p:nvSpPr>
          <p:spPr>
            <a:xfrm>
              <a:off x="0" y="38100"/>
              <a:ext cx="4381724" cy="2329589"/>
            </a:xfrm>
            <a:prstGeom prst="rect">
              <a:avLst/>
            </a:prstGeom>
          </p:spPr>
          <p:txBody>
            <a:bodyPr lIns="50800" tIns="50800" rIns="50800" bIns="50800" rtlCol="0" anchor="ctr"/>
            <a:lstStyle/>
            <a:p>
              <a:pPr algn="ctr">
                <a:lnSpc>
                  <a:spcPts val="2356"/>
                </a:lnSpc>
              </a:pPr>
              <a:endParaRPr dirty="0"/>
            </a:p>
          </p:txBody>
        </p:sp>
      </p:grpSp>
      <p:sp>
        <p:nvSpPr>
          <p:cNvPr id="6" name="TextBox 6"/>
          <p:cNvSpPr txBox="1"/>
          <p:nvPr/>
        </p:nvSpPr>
        <p:spPr>
          <a:xfrm>
            <a:off x="1536321" y="3798438"/>
            <a:ext cx="7190637" cy="3893053"/>
          </a:xfrm>
          <a:prstGeom prst="rect">
            <a:avLst/>
          </a:prstGeom>
        </p:spPr>
        <p:txBody>
          <a:bodyPr lIns="0" tIns="0" rIns="0" bIns="0" rtlCol="0" anchor="t">
            <a:spAutoFit/>
          </a:bodyPr>
          <a:lstStyle/>
          <a:p>
            <a:pPr algn="l">
              <a:lnSpc>
                <a:spcPts val="3443"/>
              </a:lnSpc>
              <a:spcBef>
                <a:spcPct val="0"/>
              </a:spcBef>
            </a:pPr>
            <a:r>
              <a:rPr lang="en-US" sz="2459" dirty="0">
                <a:solidFill>
                  <a:srgbClr val="260317"/>
                </a:solidFill>
                <a:latin typeface="Montserrat"/>
                <a:ea typeface="Montserrat"/>
                <a:cs typeface="Montserrat"/>
                <a:sym typeface="Montserrat"/>
              </a:rPr>
              <a:t>Challenges Faced:</a:t>
            </a:r>
          </a:p>
          <a:p>
            <a:pPr algn="l">
              <a:lnSpc>
                <a:spcPts val="3443"/>
              </a:lnSpc>
              <a:spcBef>
                <a:spcPct val="0"/>
              </a:spcBef>
            </a:pPr>
            <a:endParaRPr lang="en-US" sz="2459" dirty="0">
              <a:solidFill>
                <a:srgbClr val="260317"/>
              </a:solidFill>
              <a:latin typeface="Montserrat"/>
              <a:ea typeface="Montserrat"/>
              <a:cs typeface="Montserrat"/>
              <a:sym typeface="Montserrat"/>
            </a:endParaRPr>
          </a:p>
          <a:p>
            <a:pPr marL="342900" indent="-342900" algn="l">
              <a:lnSpc>
                <a:spcPts val="3443"/>
              </a:lnSpc>
              <a:spcBef>
                <a:spcPct val="0"/>
              </a:spcBef>
              <a:buFontTx/>
              <a:buChar char="-"/>
            </a:pPr>
            <a:r>
              <a:rPr lang="en-US" sz="2459" dirty="0">
                <a:solidFill>
                  <a:srgbClr val="260317"/>
                </a:solidFill>
                <a:latin typeface="Montserrat"/>
                <a:ea typeface="Montserrat"/>
                <a:cs typeface="Montserrat"/>
                <a:sym typeface="Montserrat"/>
              </a:rPr>
              <a:t>Deciding what to implement for the scope of phase 1</a:t>
            </a:r>
          </a:p>
          <a:p>
            <a:pPr marL="342900" indent="-342900" algn="l">
              <a:lnSpc>
                <a:spcPts val="3443"/>
              </a:lnSpc>
              <a:spcBef>
                <a:spcPct val="0"/>
              </a:spcBef>
              <a:buFontTx/>
              <a:buChar char="-"/>
            </a:pPr>
            <a:r>
              <a:rPr lang="en-US" sz="2459" dirty="0">
                <a:solidFill>
                  <a:srgbClr val="260317"/>
                </a:solidFill>
                <a:latin typeface="Montserrat"/>
                <a:ea typeface="Montserrat"/>
                <a:cs typeface="Montserrat"/>
                <a:sym typeface="Montserrat"/>
              </a:rPr>
              <a:t>Keeping the UML and code aligned</a:t>
            </a:r>
          </a:p>
          <a:p>
            <a:pPr marL="342900" indent="-342900" algn="l">
              <a:lnSpc>
                <a:spcPts val="3443"/>
              </a:lnSpc>
              <a:spcBef>
                <a:spcPct val="0"/>
              </a:spcBef>
              <a:buFontTx/>
              <a:buChar char="-"/>
            </a:pPr>
            <a:r>
              <a:rPr lang="en-US" sz="2459" dirty="0">
                <a:solidFill>
                  <a:srgbClr val="260317"/>
                </a:solidFill>
                <a:latin typeface="Montserrat"/>
                <a:ea typeface="Montserrat"/>
                <a:cs typeface="Montserrat"/>
                <a:sym typeface="Montserrat"/>
              </a:rPr>
              <a:t>Refining the role boundaries and validation logic</a:t>
            </a:r>
          </a:p>
          <a:p>
            <a:pPr marL="342900" indent="-342900" algn="l">
              <a:lnSpc>
                <a:spcPts val="3443"/>
              </a:lnSpc>
              <a:spcBef>
                <a:spcPct val="0"/>
              </a:spcBef>
              <a:buFontTx/>
              <a:buChar char="-"/>
            </a:pPr>
            <a:endParaRPr lang="en-US" sz="2459" dirty="0">
              <a:solidFill>
                <a:srgbClr val="260317"/>
              </a:solidFill>
              <a:latin typeface="Montserrat"/>
              <a:ea typeface="Montserrat"/>
              <a:cs typeface="Montserrat"/>
              <a:sym typeface="Montserrat"/>
            </a:endParaRPr>
          </a:p>
          <a:p>
            <a:pPr algn="l">
              <a:lnSpc>
                <a:spcPts val="3443"/>
              </a:lnSpc>
              <a:spcBef>
                <a:spcPct val="0"/>
              </a:spcBef>
            </a:pPr>
            <a:endParaRPr lang="en-US" sz="2459" dirty="0">
              <a:solidFill>
                <a:srgbClr val="260317"/>
              </a:solidFill>
              <a:latin typeface="Montserrat"/>
              <a:ea typeface="Montserrat"/>
              <a:cs typeface="Montserrat"/>
              <a:sym typeface="Montserrat"/>
            </a:endParaRPr>
          </a:p>
        </p:txBody>
      </p:sp>
      <p:grpSp>
        <p:nvGrpSpPr>
          <p:cNvPr id="7" name="Group 7"/>
          <p:cNvGrpSpPr/>
          <p:nvPr/>
        </p:nvGrpSpPr>
        <p:grpSpPr>
          <a:xfrm>
            <a:off x="1204530" y="2965573"/>
            <a:ext cx="7055020" cy="513781"/>
            <a:chOff x="0" y="0"/>
            <a:chExt cx="1762942" cy="128386"/>
          </a:xfrm>
        </p:grpSpPr>
        <p:sp>
          <p:nvSpPr>
            <p:cNvPr id="8" name="Freeform 8"/>
            <p:cNvSpPr/>
            <p:nvPr/>
          </p:nvSpPr>
          <p:spPr>
            <a:xfrm>
              <a:off x="0" y="0"/>
              <a:ext cx="1762942" cy="128386"/>
            </a:xfrm>
            <a:custGeom>
              <a:avLst/>
              <a:gdLst/>
              <a:ahLst/>
              <a:cxnLst/>
              <a:rect l="l" t="t" r="r" b="b"/>
              <a:pathLst>
                <a:path w="1762942" h="128386">
                  <a:moveTo>
                    <a:pt x="0" y="0"/>
                  </a:moveTo>
                  <a:lnTo>
                    <a:pt x="1762942" y="0"/>
                  </a:lnTo>
                  <a:lnTo>
                    <a:pt x="1762942" y="128386"/>
                  </a:lnTo>
                  <a:lnTo>
                    <a:pt x="0" y="128386"/>
                  </a:lnTo>
                  <a:close/>
                </a:path>
              </a:pathLst>
            </a:custGeom>
            <a:solidFill>
              <a:srgbClr val="EAD3E0"/>
            </a:solidFill>
          </p:spPr>
          <p:txBody>
            <a:bodyPr/>
            <a:lstStyle/>
            <a:p>
              <a:endParaRPr lang="en-NZ" dirty="0"/>
            </a:p>
          </p:txBody>
        </p:sp>
        <p:sp>
          <p:nvSpPr>
            <p:cNvPr id="9" name="TextBox 9"/>
            <p:cNvSpPr txBox="1"/>
            <p:nvPr/>
          </p:nvSpPr>
          <p:spPr>
            <a:xfrm>
              <a:off x="0" y="-38100"/>
              <a:ext cx="1762942" cy="166486"/>
            </a:xfrm>
            <a:prstGeom prst="rect">
              <a:avLst/>
            </a:prstGeom>
          </p:spPr>
          <p:txBody>
            <a:bodyPr lIns="50800" tIns="50800" rIns="50800" bIns="50800" rtlCol="0" anchor="ctr"/>
            <a:lstStyle/>
            <a:p>
              <a:pPr algn="r">
                <a:lnSpc>
                  <a:spcPts val="2659"/>
                </a:lnSpc>
              </a:pPr>
              <a:endParaRPr dirty="0"/>
            </a:p>
          </p:txBody>
        </p:sp>
      </p:grpSp>
      <p:sp>
        <p:nvSpPr>
          <p:cNvPr id="10" name="TextBox 10"/>
          <p:cNvSpPr txBox="1"/>
          <p:nvPr/>
        </p:nvSpPr>
        <p:spPr>
          <a:xfrm>
            <a:off x="1066800" y="893211"/>
            <a:ext cx="10896600" cy="2072362"/>
          </a:xfrm>
          <a:prstGeom prst="rect">
            <a:avLst/>
          </a:prstGeom>
        </p:spPr>
        <p:txBody>
          <a:bodyPr wrap="square" lIns="0" tIns="0" rIns="0" bIns="0" rtlCol="0" anchor="t">
            <a:spAutoFit/>
          </a:bodyPr>
          <a:lstStyle/>
          <a:p>
            <a:pPr>
              <a:lnSpc>
                <a:spcPts val="7988"/>
              </a:lnSpc>
            </a:pPr>
            <a:r>
              <a:rPr lang="en-NZ" sz="7200" dirty="0">
                <a:latin typeface="Catchy Mager" panose="020B0604020202020204" charset="0"/>
              </a:rPr>
              <a:t>Challenges, Improvements, Conclusion</a:t>
            </a:r>
            <a:endParaRPr lang="en-US" sz="6886" spc="764" dirty="0">
              <a:solidFill>
                <a:srgbClr val="260317"/>
              </a:solidFill>
              <a:latin typeface="Catchy Mager" panose="020B0604020202020204" charset="0"/>
              <a:ea typeface="Catchy Mager"/>
              <a:cs typeface="Catchy Mager"/>
              <a:sym typeface="Catchy Mager"/>
            </a:endParaRPr>
          </a:p>
        </p:txBody>
      </p:sp>
      <p:sp>
        <p:nvSpPr>
          <p:cNvPr id="11" name="TextBox 11"/>
          <p:cNvSpPr txBox="1"/>
          <p:nvPr/>
        </p:nvSpPr>
        <p:spPr>
          <a:xfrm>
            <a:off x="1371600" y="3121490"/>
            <a:ext cx="6391439" cy="201945"/>
          </a:xfrm>
          <a:prstGeom prst="rect">
            <a:avLst/>
          </a:prstGeom>
        </p:spPr>
        <p:txBody>
          <a:bodyPr lIns="0" tIns="0" rIns="0" bIns="0" rtlCol="0" anchor="t">
            <a:spAutoFit/>
          </a:bodyPr>
          <a:lstStyle/>
          <a:p>
            <a:pPr algn="l">
              <a:lnSpc>
                <a:spcPts val="1560"/>
              </a:lnSpc>
            </a:pPr>
            <a:r>
              <a:rPr lang="en-US" sz="1625" spc="180" dirty="0">
                <a:solidFill>
                  <a:srgbClr val="260317"/>
                </a:solidFill>
                <a:latin typeface="Montserrat"/>
                <a:ea typeface="Montserrat"/>
                <a:cs typeface="Montserrat"/>
                <a:sym typeface="Montserrat"/>
              </a:rPr>
              <a:t>Project Contents</a:t>
            </a:r>
          </a:p>
        </p:txBody>
      </p:sp>
      <p:sp>
        <p:nvSpPr>
          <p:cNvPr id="13" name="TextBox 12">
            <a:extLst>
              <a:ext uri="{FF2B5EF4-FFF2-40B4-BE49-F238E27FC236}">
                <a16:creationId xmlns:a16="http://schemas.microsoft.com/office/drawing/2014/main" id="{69CE922A-29B4-CD22-BACD-3ACA80D91CE4}"/>
              </a:ext>
            </a:extLst>
          </p:cNvPr>
          <p:cNvSpPr txBox="1"/>
          <p:nvPr/>
        </p:nvSpPr>
        <p:spPr>
          <a:xfrm>
            <a:off x="9561044" y="3657037"/>
            <a:ext cx="9144000" cy="3117585"/>
          </a:xfrm>
          <a:prstGeom prst="rect">
            <a:avLst/>
          </a:prstGeom>
          <a:noFill/>
        </p:spPr>
        <p:txBody>
          <a:bodyPr wrap="square">
            <a:spAutoFit/>
          </a:bodyPr>
          <a:lstStyle/>
          <a:p>
            <a:pPr algn="l">
              <a:lnSpc>
                <a:spcPts val="3443"/>
              </a:lnSpc>
              <a:spcBef>
                <a:spcPct val="0"/>
              </a:spcBef>
            </a:pPr>
            <a:r>
              <a:rPr lang="en-US" sz="2460" dirty="0">
                <a:solidFill>
                  <a:srgbClr val="260317"/>
                </a:solidFill>
                <a:latin typeface="Montserrat"/>
                <a:ea typeface="Montserrat"/>
                <a:cs typeface="Montserrat"/>
                <a:sym typeface="Montserrat"/>
              </a:rPr>
              <a:t>Future Work</a:t>
            </a:r>
          </a:p>
          <a:p>
            <a:pPr algn="l">
              <a:lnSpc>
                <a:spcPts val="3443"/>
              </a:lnSpc>
              <a:spcBef>
                <a:spcPct val="0"/>
              </a:spcBef>
            </a:pPr>
            <a:endParaRPr lang="en-US" sz="2460" dirty="0">
              <a:solidFill>
                <a:srgbClr val="260317"/>
              </a:solidFill>
              <a:latin typeface="Montserrat"/>
              <a:ea typeface="Montserrat"/>
              <a:cs typeface="Montserrat"/>
              <a:sym typeface="Montserrat"/>
            </a:endParaRPr>
          </a:p>
          <a:p>
            <a:pPr marL="342900" indent="-342900" algn="l">
              <a:lnSpc>
                <a:spcPts val="3443"/>
              </a:lnSpc>
              <a:spcBef>
                <a:spcPct val="0"/>
              </a:spcBef>
              <a:buFontTx/>
              <a:buChar char="-"/>
            </a:pPr>
            <a:r>
              <a:rPr lang="en-US" sz="2460" dirty="0">
                <a:solidFill>
                  <a:srgbClr val="260317"/>
                </a:solidFill>
                <a:latin typeface="Montserrat"/>
                <a:ea typeface="Montserrat"/>
                <a:cs typeface="Montserrat"/>
                <a:sym typeface="Montserrat"/>
              </a:rPr>
              <a:t>Connecting the system t a database system</a:t>
            </a:r>
          </a:p>
          <a:p>
            <a:pPr marL="342900" indent="-342900" algn="l">
              <a:lnSpc>
                <a:spcPts val="3443"/>
              </a:lnSpc>
              <a:spcBef>
                <a:spcPct val="0"/>
              </a:spcBef>
              <a:buFontTx/>
              <a:buChar char="-"/>
            </a:pPr>
            <a:r>
              <a:rPr lang="en-US" sz="2460" dirty="0">
                <a:solidFill>
                  <a:srgbClr val="260317"/>
                </a:solidFill>
                <a:latin typeface="Montserrat"/>
                <a:ea typeface="Montserrat"/>
                <a:cs typeface="Montserrat"/>
                <a:sym typeface="Montserrat"/>
              </a:rPr>
              <a:t>Stronger customer to shipping mapping</a:t>
            </a:r>
          </a:p>
          <a:p>
            <a:pPr marL="342900" indent="-342900" algn="l">
              <a:lnSpc>
                <a:spcPts val="3443"/>
              </a:lnSpc>
              <a:spcBef>
                <a:spcPct val="0"/>
              </a:spcBef>
              <a:buFontTx/>
              <a:buChar char="-"/>
            </a:pPr>
            <a:r>
              <a:rPr lang="en-US" sz="2460" dirty="0">
                <a:solidFill>
                  <a:srgbClr val="260317"/>
                </a:solidFill>
                <a:latin typeface="Montserrat"/>
                <a:ea typeface="Montserrat"/>
                <a:cs typeface="Montserrat"/>
                <a:sym typeface="Montserrat"/>
              </a:rPr>
              <a:t>Inventory and returned good management implementation</a:t>
            </a:r>
          </a:p>
          <a:p>
            <a:pPr marL="342900" indent="-342900" algn="l">
              <a:lnSpc>
                <a:spcPts val="3443"/>
              </a:lnSpc>
              <a:spcBef>
                <a:spcPct val="0"/>
              </a:spcBef>
              <a:buFontTx/>
              <a:buChar char="-"/>
            </a:pPr>
            <a:r>
              <a:rPr lang="en-US" sz="2460" dirty="0">
                <a:solidFill>
                  <a:srgbClr val="260317"/>
                </a:solidFill>
                <a:latin typeface="Montserrat"/>
                <a:ea typeface="Montserrat"/>
                <a:cs typeface="Montserrat"/>
                <a:sym typeface="Montserrat"/>
              </a:rPr>
              <a:t>Expanded admin and account system</a:t>
            </a:r>
            <a:endParaRPr lang="en-NZ" sz="246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2C75D-CD9D-FA5B-C691-39A71BE0254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49A72C3-EEE2-2933-F248-004349E766C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51576" t="-3683" r="-850" b="-48743"/>
            </a:stretch>
          </a:blipFill>
        </p:spPr>
        <p:txBody>
          <a:bodyPr/>
          <a:lstStyle/>
          <a:p>
            <a:endParaRPr lang="en-NZ" dirty="0"/>
          </a:p>
        </p:txBody>
      </p:sp>
      <p:grpSp>
        <p:nvGrpSpPr>
          <p:cNvPr id="3" name="Group 3">
            <a:extLst>
              <a:ext uri="{FF2B5EF4-FFF2-40B4-BE49-F238E27FC236}">
                <a16:creationId xmlns:a16="http://schemas.microsoft.com/office/drawing/2014/main" id="{1C1DDA75-9791-AF8A-0C4D-FBFA09A98783}"/>
              </a:ext>
            </a:extLst>
          </p:cNvPr>
          <p:cNvGrpSpPr/>
          <p:nvPr/>
        </p:nvGrpSpPr>
        <p:grpSpPr>
          <a:xfrm>
            <a:off x="825571" y="648590"/>
            <a:ext cx="16636859" cy="8989819"/>
            <a:chOff x="0" y="0"/>
            <a:chExt cx="4381724" cy="2367689"/>
          </a:xfrm>
        </p:grpSpPr>
        <p:sp>
          <p:nvSpPr>
            <p:cNvPr id="4" name="Freeform 4">
              <a:extLst>
                <a:ext uri="{FF2B5EF4-FFF2-40B4-BE49-F238E27FC236}">
                  <a16:creationId xmlns:a16="http://schemas.microsoft.com/office/drawing/2014/main" id="{514A78E6-532B-26B7-FDD9-36D438520E68}"/>
                </a:ext>
              </a:extLst>
            </p:cNvPr>
            <p:cNvSpPr/>
            <p:nvPr/>
          </p:nvSpPr>
          <p:spPr>
            <a:xfrm>
              <a:off x="0" y="0"/>
              <a:ext cx="4381724" cy="2367689"/>
            </a:xfrm>
            <a:custGeom>
              <a:avLst/>
              <a:gdLst/>
              <a:ahLst/>
              <a:cxnLst/>
              <a:rect l="l" t="t" r="r" b="b"/>
              <a:pathLst>
                <a:path w="4381724" h="2367689">
                  <a:moveTo>
                    <a:pt x="0" y="0"/>
                  </a:moveTo>
                  <a:lnTo>
                    <a:pt x="4381724" y="0"/>
                  </a:lnTo>
                  <a:lnTo>
                    <a:pt x="4381724" y="2367689"/>
                  </a:lnTo>
                  <a:lnTo>
                    <a:pt x="0" y="2367689"/>
                  </a:lnTo>
                  <a:close/>
                </a:path>
              </a:pathLst>
            </a:custGeom>
            <a:ln w="38100" cap="sq">
              <a:solidFill>
                <a:srgbClr val="F3F0F1"/>
              </a:solidFill>
              <a:prstDash val="solid"/>
              <a:miter/>
            </a:ln>
          </p:spPr>
          <p:txBody>
            <a:bodyPr/>
            <a:lstStyle/>
            <a:p>
              <a:endParaRPr lang="en-NZ" dirty="0"/>
            </a:p>
          </p:txBody>
        </p:sp>
        <p:sp>
          <p:nvSpPr>
            <p:cNvPr id="5" name="TextBox 5">
              <a:extLst>
                <a:ext uri="{FF2B5EF4-FFF2-40B4-BE49-F238E27FC236}">
                  <a16:creationId xmlns:a16="http://schemas.microsoft.com/office/drawing/2014/main" id="{EF78E77D-1558-2191-4288-10A24F685289}"/>
                </a:ext>
              </a:extLst>
            </p:cNvPr>
            <p:cNvSpPr txBox="1"/>
            <p:nvPr/>
          </p:nvSpPr>
          <p:spPr>
            <a:xfrm>
              <a:off x="0" y="38100"/>
              <a:ext cx="4381724" cy="2329589"/>
            </a:xfrm>
            <a:prstGeom prst="rect">
              <a:avLst/>
            </a:prstGeom>
          </p:spPr>
          <p:txBody>
            <a:bodyPr lIns="50800" tIns="50800" rIns="50800" bIns="50800" rtlCol="0" anchor="ctr"/>
            <a:lstStyle/>
            <a:p>
              <a:pPr algn="ctr">
                <a:lnSpc>
                  <a:spcPts val="2356"/>
                </a:lnSpc>
              </a:pPr>
              <a:endParaRPr dirty="0"/>
            </a:p>
          </p:txBody>
        </p:sp>
      </p:grpSp>
      <p:sp>
        <p:nvSpPr>
          <p:cNvPr id="6" name="TextBox 6">
            <a:extLst>
              <a:ext uri="{FF2B5EF4-FFF2-40B4-BE49-F238E27FC236}">
                <a16:creationId xmlns:a16="http://schemas.microsoft.com/office/drawing/2014/main" id="{D536FB7E-AD48-F1E5-3190-F2754E0C14DD}"/>
              </a:ext>
            </a:extLst>
          </p:cNvPr>
          <p:cNvSpPr txBox="1"/>
          <p:nvPr/>
        </p:nvSpPr>
        <p:spPr>
          <a:xfrm>
            <a:off x="1028700" y="4479114"/>
            <a:ext cx="16230600" cy="1509746"/>
          </a:xfrm>
          <a:prstGeom prst="rect">
            <a:avLst/>
          </a:prstGeom>
        </p:spPr>
        <p:txBody>
          <a:bodyPr lIns="0" tIns="0" rIns="0" bIns="0" rtlCol="0" anchor="t">
            <a:spAutoFit/>
          </a:bodyPr>
          <a:lstStyle/>
          <a:p>
            <a:pPr algn="ctr">
              <a:lnSpc>
                <a:spcPts val="11103"/>
              </a:lnSpc>
            </a:pPr>
            <a:r>
              <a:rPr lang="en-US" sz="11103" spc="2986" dirty="0">
                <a:solidFill>
                  <a:srgbClr val="260317"/>
                </a:solidFill>
                <a:latin typeface="Catchy Mager"/>
                <a:ea typeface="Catchy Mager"/>
                <a:cs typeface="Catchy Mager"/>
                <a:sym typeface="Catchy Mager"/>
              </a:rPr>
              <a:t>Questions?</a:t>
            </a:r>
          </a:p>
        </p:txBody>
      </p:sp>
    </p:spTree>
    <p:extLst>
      <p:ext uri="{BB962C8B-B14F-4D97-AF65-F5344CB8AC3E}">
        <p14:creationId xmlns:p14="http://schemas.microsoft.com/office/powerpoint/2010/main" val="21853931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14290-CBBD-D826-6983-8F58D5AEF18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25E0F10-85A1-00CA-5E05-02538D1E05E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51576" t="-3683" r="-850" b="-48743"/>
            </a:stretch>
          </a:blipFill>
        </p:spPr>
        <p:txBody>
          <a:bodyPr/>
          <a:lstStyle/>
          <a:p>
            <a:endParaRPr lang="en-NZ" dirty="0"/>
          </a:p>
        </p:txBody>
      </p:sp>
      <p:grpSp>
        <p:nvGrpSpPr>
          <p:cNvPr id="3" name="Group 3">
            <a:extLst>
              <a:ext uri="{FF2B5EF4-FFF2-40B4-BE49-F238E27FC236}">
                <a16:creationId xmlns:a16="http://schemas.microsoft.com/office/drawing/2014/main" id="{377B884E-64F6-6F82-9DF6-11D08A2E57CF}"/>
              </a:ext>
            </a:extLst>
          </p:cNvPr>
          <p:cNvGrpSpPr/>
          <p:nvPr/>
        </p:nvGrpSpPr>
        <p:grpSpPr>
          <a:xfrm>
            <a:off x="825571" y="648590"/>
            <a:ext cx="16636859" cy="8989819"/>
            <a:chOff x="0" y="0"/>
            <a:chExt cx="4381724" cy="2367689"/>
          </a:xfrm>
        </p:grpSpPr>
        <p:sp>
          <p:nvSpPr>
            <p:cNvPr id="4" name="Freeform 4">
              <a:extLst>
                <a:ext uri="{FF2B5EF4-FFF2-40B4-BE49-F238E27FC236}">
                  <a16:creationId xmlns:a16="http://schemas.microsoft.com/office/drawing/2014/main" id="{18B51349-A19B-33C8-2D00-8C34185336D5}"/>
                </a:ext>
              </a:extLst>
            </p:cNvPr>
            <p:cNvSpPr/>
            <p:nvPr/>
          </p:nvSpPr>
          <p:spPr>
            <a:xfrm>
              <a:off x="0" y="0"/>
              <a:ext cx="4381724" cy="2367689"/>
            </a:xfrm>
            <a:custGeom>
              <a:avLst/>
              <a:gdLst/>
              <a:ahLst/>
              <a:cxnLst/>
              <a:rect l="l" t="t" r="r" b="b"/>
              <a:pathLst>
                <a:path w="4381724" h="2367689">
                  <a:moveTo>
                    <a:pt x="0" y="0"/>
                  </a:moveTo>
                  <a:lnTo>
                    <a:pt x="4381724" y="0"/>
                  </a:lnTo>
                  <a:lnTo>
                    <a:pt x="4381724" y="2367689"/>
                  </a:lnTo>
                  <a:lnTo>
                    <a:pt x="0" y="2367689"/>
                  </a:lnTo>
                  <a:close/>
                </a:path>
              </a:pathLst>
            </a:custGeom>
            <a:ln w="38100" cap="sq">
              <a:solidFill>
                <a:srgbClr val="F3F0F1"/>
              </a:solidFill>
              <a:prstDash val="solid"/>
              <a:miter/>
            </a:ln>
          </p:spPr>
          <p:txBody>
            <a:bodyPr/>
            <a:lstStyle/>
            <a:p>
              <a:endParaRPr lang="en-NZ" dirty="0"/>
            </a:p>
          </p:txBody>
        </p:sp>
        <p:sp>
          <p:nvSpPr>
            <p:cNvPr id="5" name="TextBox 5">
              <a:extLst>
                <a:ext uri="{FF2B5EF4-FFF2-40B4-BE49-F238E27FC236}">
                  <a16:creationId xmlns:a16="http://schemas.microsoft.com/office/drawing/2014/main" id="{6B3B423E-AD75-6834-19EC-4D000047656B}"/>
                </a:ext>
              </a:extLst>
            </p:cNvPr>
            <p:cNvSpPr txBox="1"/>
            <p:nvPr/>
          </p:nvSpPr>
          <p:spPr>
            <a:xfrm>
              <a:off x="0" y="38100"/>
              <a:ext cx="4381724" cy="2329589"/>
            </a:xfrm>
            <a:prstGeom prst="rect">
              <a:avLst/>
            </a:prstGeom>
          </p:spPr>
          <p:txBody>
            <a:bodyPr lIns="50800" tIns="50800" rIns="50800" bIns="50800" rtlCol="0" anchor="ctr"/>
            <a:lstStyle/>
            <a:p>
              <a:pPr algn="ctr">
                <a:lnSpc>
                  <a:spcPts val="2356"/>
                </a:lnSpc>
              </a:pPr>
              <a:endParaRPr dirty="0"/>
            </a:p>
          </p:txBody>
        </p:sp>
      </p:grpSp>
      <p:sp>
        <p:nvSpPr>
          <p:cNvPr id="6" name="TextBox 6">
            <a:extLst>
              <a:ext uri="{FF2B5EF4-FFF2-40B4-BE49-F238E27FC236}">
                <a16:creationId xmlns:a16="http://schemas.microsoft.com/office/drawing/2014/main" id="{30A3B8A3-EAF6-8A91-ACCC-58039B3C4148}"/>
              </a:ext>
            </a:extLst>
          </p:cNvPr>
          <p:cNvSpPr txBox="1"/>
          <p:nvPr/>
        </p:nvSpPr>
        <p:spPr>
          <a:xfrm>
            <a:off x="1028700" y="4479114"/>
            <a:ext cx="16230600" cy="1509746"/>
          </a:xfrm>
          <a:prstGeom prst="rect">
            <a:avLst/>
          </a:prstGeom>
        </p:spPr>
        <p:txBody>
          <a:bodyPr lIns="0" tIns="0" rIns="0" bIns="0" rtlCol="0" anchor="t">
            <a:spAutoFit/>
          </a:bodyPr>
          <a:lstStyle/>
          <a:p>
            <a:pPr algn="ctr">
              <a:lnSpc>
                <a:spcPts val="11103"/>
              </a:lnSpc>
            </a:pPr>
            <a:r>
              <a:rPr lang="en-US" sz="11103" spc="2986" dirty="0">
                <a:solidFill>
                  <a:srgbClr val="260317"/>
                </a:solidFill>
                <a:latin typeface="Catchy Mager"/>
                <a:ea typeface="Catchy Mager"/>
                <a:cs typeface="Catchy Mager"/>
                <a:sym typeface="Catchy Mager"/>
              </a:rPr>
              <a:t>THANK YOU</a:t>
            </a:r>
          </a:p>
        </p:txBody>
      </p:sp>
    </p:spTree>
    <p:extLst>
      <p:ext uri="{BB962C8B-B14F-4D97-AF65-F5344CB8AC3E}">
        <p14:creationId xmlns:p14="http://schemas.microsoft.com/office/powerpoint/2010/main" val="35606420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973</TotalTime>
  <Words>428</Words>
  <Application>Microsoft Office PowerPoint</Application>
  <PresentationFormat>Custom</PresentationFormat>
  <Paragraphs>109</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Catchy Mager</vt:lpstr>
      <vt:lpstr>Calibri</vt:lpstr>
      <vt:lpstr>Montserrat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Pink Minimalist Proposal Presentation</dc:title>
  <dc:creator>Lakshmi Sravani Kunapuli</dc:creator>
  <cp:lastModifiedBy>Sravani Kunapuli</cp:lastModifiedBy>
  <cp:revision>4</cp:revision>
  <dcterms:created xsi:type="dcterms:W3CDTF">2006-08-16T00:00:00Z</dcterms:created>
  <dcterms:modified xsi:type="dcterms:W3CDTF">2026-04-19T10:13:35Z</dcterms:modified>
  <dc:identifier>DAHHFLug1bY</dc:identifier>
</cp:coreProperties>
</file>